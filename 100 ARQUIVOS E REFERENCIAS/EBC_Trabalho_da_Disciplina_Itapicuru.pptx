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customXml/item1.xml" ContentType="application/xml"/>
  <Override PartName="/customXml/itemProps1.xml" ContentType="application/vnd.openxmlformats-officedocument.customXmlProperties+xml"/>
  <Override PartName="/customXml/item2.xml" ContentType="application/xml"/>
  <Override PartName="/customXml/_rels/item3.xml.rels" ContentType="application/vnd.openxmlformats-package.relationships+xml"/>
  <Override PartName="/customXml/_rels/item2.xml.rels" ContentType="application/vnd.openxmlformats-package.relationships+xml"/>
  <Override PartName="/customXml/_rels/item1.xml.rels" ContentType="application/vnd.openxmlformats-package.relationships+xml"/>
  <Override PartName="/customXml/itemProps2.xml" ContentType="application/vnd.openxmlformats-officedocument.customXmlProperties+xml"/>
  <Override PartName="/customXml/item3.xml" ContentType="application/xml"/>
  <Override PartName="/customXml/itemProps3.xml" ContentType="application/vnd.openxmlformats-officedocument.customXml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_rels/notesSlide2.xml.rels" ContentType="application/vnd.openxmlformats-package.relationships+xml"/>
  <Override PartName="/ppt/notesSlides/_rels/notesSlide1.xml.rels" ContentType="application/vnd.openxmlformats-package.relationshi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_rels/presentation.xml.rels" ContentType="application/vnd.openxmlformats-package.relationships+xml"/>
  <Override PartName="/ppt/media/image1.png" ContentType="image/png"/>
  <Override PartName="/ppt/media/image2.png" ContentType="image/png"/>
  <Override PartName="/ppt/media/image3.png" ContentType="image/png"/>
  <Override PartName="/ppt/media/image4.png" ContentType="image/png"/>
  <Override PartName="/ppt/media/image5.png" ContentType="image/png"/>
  <Override PartName="/ppt/media/image10.png" ContentType="image/png"/>
  <Override PartName="/ppt/media/image6.png" ContentType="image/png"/>
  <Override PartName="/ppt/media/image11.png" ContentType="image/png"/>
  <Override PartName="/ppt/media/image7.png" ContentType="image/png"/>
  <Override PartName="/ppt/media/image12.png" ContentType="image/png"/>
  <Override PartName="/ppt/media/image8.png" ContentType="image/png"/>
  <Override PartName="/ppt/media/image13.png" ContentType="image/png"/>
  <Override PartName="/ppt/media/image9.png" ContentType="image/png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notesMasters/_rels/notesMaster1.xml.rels" ContentType="application/vnd.openxmlformats-package.relationships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customXml" Target="../customXml/item1.xml"/><Relationship Id="rId5" Type="http://schemas.openxmlformats.org/officeDocument/2006/relationships/customXml" Target="../customXml/item2.xml"/><Relationship Id="rId6" Type="http://schemas.openxmlformats.org/officeDocument/2006/relationships/customXml" Target="../customXml/item3.xml"/><Relationship Id="rId7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notesMasterIdLst>
    <p:notesMasterId r:id="rId4"/>
  </p:notesMasterIdLst>
  <p:sldIdLst>
    <p:sldId id="256" r:id="rId5"/>
    <p:sldId id="257" r:id="rId6"/>
  </p:sldIdLst>
  <p:sldSz cx="10058400" cy="77724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3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mover o slide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Clique para editar o formato de notas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19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&lt;cabeçalho&gt;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0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&lt;data/hora&gt;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1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&lt;rodapé&gt;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122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976B0CEF-4CEF-4A94-885B-FF0D605DBF6F}" type="slidenum">
              <a:rPr b="0" lang="pt-BR" sz="1400" spc="-1" strike="noStrike">
                <a:latin typeface="Times New Roman"/>
              </a:rPr>
              <a:t>&lt;número&gt;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"1.0" encoding="UTF-8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
</Relationships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Para alterar este folheto, substitua nosso conteúdo de amostra pelo seu. Ou, se preferir começar do zero, pressione o botão Novo Slide na guia Início, para inserir uma página nova. Agora insira seu texto e imagens nos espaços reservados em branco. Para alterar o logotipo pelo logotipo de sua empresa, selecione a imagem “substituir LOGOTIPO” e escolha Alterar Imagem na guia Formatar Ferramentas de Imagem.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E você notou que fizemos marcas de dobra para você? Elas são muito claras, mas se você não quiser que as mesmas sejam visualizadas em seu panfleto, selecione e exclua-as antes da impressão.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50" name="PlaceHolder 2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1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51" name="PlaceHolder 3"/>
          <p:cNvSpPr>
            <a:spLocks noGrp="1"/>
          </p:cNvSpPr>
          <p:nvPr>
            <p:ph type="sldImg"/>
          </p:nvPr>
        </p:nvSpPr>
        <p:spPr>
          <a:xfrm>
            <a:off x="1432080" y="1143000"/>
            <a:ext cx="3993840" cy="3085920"/>
          </a:xfrm>
          <a:prstGeom prst="rect">
            <a:avLst/>
          </a:prstGeom>
          <a:ln w="0">
            <a:noFill/>
          </a:ln>
        </p:spPr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6040" cy="3600000"/>
          </a:xfrm>
          <a:prstGeom prst="rect">
            <a:avLst/>
          </a:prstGeom>
          <a:noFill/>
          <a:ln w="0">
            <a:noFill/>
          </a:ln>
        </p:spPr>
        <p:txBody>
          <a:bodyPr anchor="t">
            <a:noAutofit/>
          </a:bodyPr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Para alterar este folheto, substitua nosso conteúdo de amostra pelo seu. Ou, se preferir começar do zero, pressione o botão Novo Slide na guia Início, para inserir uma página nova. Agora insira seu texto e imagens nos espaços reservados em branco. Para alterar o logotipo pelo logotipo de sua empresa, selecione a imagem “substituir LOGOTIPO” e escolha Alterar Imagem na guia Formatar Ferramentas de Imagem.</a:t>
            </a: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endParaRPr b="0" lang="pt-BR" sz="2000" spc="-1" strike="noStrike">
              <a:latin typeface="Arial"/>
            </a:endParaRPr>
          </a:p>
          <a:p>
            <a:pPr marL="216000" indent="-216000">
              <a:lnSpc>
                <a:spcPct val="100000"/>
              </a:lnSpc>
              <a:buNone/>
            </a:pPr>
            <a:r>
              <a:rPr b="0" lang="pt-BR" sz="2000" spc="-1" strike="noStrike">
                <a:latin typeface="Arial"/>
              </a:rPr>
              <a:t>E você notou que fizemos marcas de dobra para você? Elas são muito claras, mas se você não quiser que as mesmas sejam visualizadas em seu panfleto, selecione e exclua-as antes da impressão.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71440" cy="458280"/>
          </a:xfrm>
          <a:prstGeom prst="rect">
            <a:avLst/>
          </a:prstGeom>
          <a:noFill/>
          <a:ln w="0">
            <a:noFill/>
          </a:ln>
        </p:spPr>
        <p:txBody>
          <a:bodyPr anchor="b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2</a:t>
            </a:r>
            <a:endParaRPr b="0" lang="pt-BR" sz="1200" spc="-1" strike="noStrike">
              <a:latin typeface="Times New Roman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 type="sldImg"/>
          </p:nvPr>
        </p:nvSpPr>
        <p:spPr>
          <a:xfrm>
            <a:off x="1432080" y="1143000"/>
            <a:ext cx="3993840" cy="3085920"/>
          </a:xfrm>
          <a:prstGeom prst="rect">
            <a:avLst/>
          </a:prstGeom>
          <a:ln w="0">
            <a:noFill/>
          </a:ln>
        </p:spPr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subTitle"/>
          </p:nvPr>
        </p:nvSpPr>
        <p:spPr>
          <a:xfrm>
            <a:off x="434520" y="569880"/>
            <a:ext cx="242280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242280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subTitle"/>
          </p:nvPr>
        </p:nvSpPr>
        <p:spPr>
          <a:xfrm>
            <a:off x="502920" y="309960"/>
            <a:ext cx="9052200" cy="601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0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4"/>
          <p:cNvSpPr>
            <a:spLocks noGrp="1"/>
          </p:cNvSpPr>
          <p:nvPr>
            <p:ph/>
          </p:nvPr>
        </p:nvSpPr>
        <p:spPr>
          <a:xfrm>
            <a:off x="43452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/>
          </p:nvPr>
        </p:nvSpPr>
        <p:spPr>
          <a:xfrm>
            <a:off x="167616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4"/>
          <p:cNvSpPr>
            <a:spLocks noGrp="1"/>
          </p:cNvSpPr>
          <p:nvPr>
            <p:ph/>
          </p:nvPr>
        </p:nvSpPr>
        <p:spPr>
          <a:xfrm>
            <a:off x="434520" y="1287360"/>
            <a:ext cx="242280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242280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2" name="PlaceHolder 3"/>
          <p:cNvSpPr>
            <a:spLocks noGrp="1"/>
          </p:cNvSpPr>
          <p:nvPr>
            <p:ph/>
          </p:nvPr>
        </p:nvSpPr>
        <p:spPr>
          <a:xfrm>
            <a:off x="434520" y="1287360"/>
            <a:ext cx="242280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4"/>
          <p:cNvSpPr>
            <a:spLocks noGrp="1"/>
          </p:cNvSpPr>
          <p:nvPr>
            <p:ph/>
          </p:nvPr>
        </p:nvSpPr>
        <p:spPr>
          <a:xfrm>
            <a:off x="43452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7" name="PlaceHolder 5"/>
          <p:cNvSpPr>
            <a:spLocks noGrp="1"/>
          </p:cNvSpPr>
          <p:nvPr>
            <p:ph/>
          </p:nvPr>
        </p:nvSpPr>
        <p:spPr>
          <a:xfrm>
            <a:off x="167616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9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3"/>
          <p:cNvSpPr>
            <a:spLocks noGrp="1"/>
          </p:cNvSpPr>
          <p:nvPr>
            <p:ph/>
          </p:nvPr>
        </p:nvSpPr>
        <p:spPr>
          <a:xfrm>
            <a:off x="1253520" y="56988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1" name="PlaceHolder 4"/>
          <p:cNvSpPr>
            <a:spLocks noGrp="1"/>
          </p:cNvSpPr>
          <p:nvPr>
            <p:ph/>
          </p:nvPr>
        </p:nvSpPr>
        <p:spPr>
          <a:xfrm>
            <a:off x="2072880" y="56988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5"/>
          <p:cNvSpPr>
            <a:spLocks noGrp="1"/>
          </p:cNvSpPr>
          <p:nvPr>
            <p:ph/>
          </p:nvPr>
        </p:nvSpPr>
        <p:spPr>
          <a:xfrm>
            <a:off x="434520" y="128736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6"/>
          <p:cNvSpPr>
            <a:spLocks noGrp="1"/>
          </p:cNvSpPr>
          <p:nvPr>
            <p:ph/>
          </p:nvPr>
        </p:nvSpPr>
        <p:spPr>
          <a:xfrm>
            <a:off x="1253520" y="128736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4" name="PlaceHolder 7"/>
          <p:cNvSpPr>
            <a:spLocks noGrp="1"/>
          </p:cNvSpPr>
          <p:nvPr>
            <p:ph/>
          </p:nvPr>
        </p:nvSpPr>
        <p:spPr>
          <a:xfrm>
            <a:off x="2072880" y="128736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434520" y="569880"/>
            <a:ext cx="242280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242280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502920" y="309960"/>
            <a:ext cx="9052200" cy="601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/>
          </p:nvPr>
        </p:nvSpPr>
        <p:spPr>
          <a:xfrm>
            <a:off x="43452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/>
          </p:nvPr>
        </p:nvSpPr>
        <p:spPr>
          <a:xfrm>
            <a:off x="167616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/>
          </p:nvPr>
        </p:nvSpPr>
        <p:spPr>
          <a:xfrm>
            <a:off x="434520" y="1287360"/>
            <a:ext cx="242280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242280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/>
          </p:nvPr>
        </p:nvSpPr>
        <p:spPr>
          <a:xfrm>
            <a:off x="434520" y="1287360"/>
            <a:ext cx="242280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/>
          </p:nvPr>
        </p:nvSpPr>
        <p:spPr>
          <a:xfrm>
            <a:off x="1676160" y="56988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/>
          </p:nvPr>
        </p:nvSpPr>
        <p:spPr>
          <a:xfrm>
            <a:off x="43452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/>
          </p:nvPr>
        </p:nvSpPr>
        <p:spPr>
          <a:xfrm>
            <a:off x="1676160" y="1287360"/>
            <a:ext cx="118224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67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/>
          </p:nvPr>
        </p:nvSpPr>
        <p:spPr>
          <a:xfrm>
            <a:off x="434520" y="56988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/>
          </p:nvPr>
        </p:nvSpPr>
        <p:spPr>
          <a:xfrm>
            <a:off x="1253520" y="56988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/>
          </p:nvPr>
        </p:nvSpPr>
        <p:spPr>
          <a:xfrm>
            <a:off x="2072880" y="56988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/>
          </p:nvPr>
        </p:nvSpPr>
        <p:spPr>
          <a:xfrm>
            <a:off x="434520" y="128736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/>
          </p:nvPr>
        </p:nvSpPr>
        <p:spPr>
          <a:xfrm>
            <a:off x="1253520" y="128736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/>
          </p:nvPr>
        </p:nvSpPr>
        <p:spPr>
          <a:xfrm>
            <a:off x="2072880" y="1287360"/>
            <a:ext cx="779760" cy="65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59000"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slideLayout" Target="../slideLayouts/slideLayout1.xml"/><Relationship Id="rId5" Type="http://schemas.openxmlformats.org/officeDocument/2006/relationships/slideLayout" Target="../slideLayouts/slideLayout2.xml"/><Relationship Id="rId6" Type="http://schemas.openxmlformats.org/officeDocument/2006/relationships/slideLayout" Target="../slideLayouts/slideLayout3.xml"/><Relationship Id="rId7" Type="http://schemas.openxmlformats.org/officeDocument/2006/relationships/slideLayout" Target="../slideLayouts/slideLayout4.xml"/><Relationship Id="rId8" Type="http://schemas.openxmlformats.org/officeDocument/2006/relationships/slideLayout" Target="../slideLayouts/slideLayout5.xml"/><Relationship Id="rId9" Type="http://schemas.openxmlformats.org/officeDocument/2006/relationships/slideLayout" Target="../slideLayouts/slideLayout6.xml"/><Relationship Id="rId10" Type="http://schemas.openxmlformats.org/officeDocument/2006/relationships/slideLayout" Target="../slideLayouts/slideLayout7.xml"/><Relationship Id="rId11" Type="http://schemas.openxmlformats.org/officeDocument/2006/relationships/slideLayout" Target="../slideLayouts/slideLayout8.xml"/><Relationship Id="rId12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0.xml"/><Relationship Id="rId14" Type="http://schemas.openxmlformats.org/officeDocument/2006/relationships/slideLayout" Target="../slideLayouts/slideLayout11.xml"/><Relationship Id="rId15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slideLayout" Target="../slideLayouts/slideLayout13.xml"/><Relationship Id="rId7" Type="http://schemas.openxmlformats.org/officeDocument/2006/relationships/slideLayout" Target="../slideLayouts/slideLayout14.xml"/><Relationship Id="rId8" Type="http://schemas.openxmlformats.org/officeDocument/2006/relationships/slideLayout" Target="../slideLayouts/slideLayout15.xml"/><Relationship Id="rId9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1.xml"/><Relationship Id="rId15" Type="http://schemas.openxmlformats.org/officeDocument/2006/relationships/slideLayout" Target="../slideLayouts/slideLayout22.xml"/><Relationship Id="rId16" Type="http://schemas.openxmlformats.org/officeDocument/2006/relationships/slideLayout" Target="../slideLayouts/slideLayout23.xml"/><Relationship Id="rId17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body"/>
          </p:nvPr>
        </p:nvSpPr>
        <p:spPr>
          <a:xfrm rot="16200000">
            <a:off x="2282400" y="5905800"/>
            <a:ext cx="2471400" cy="3474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85000"/>
              </a:lnSpc>
              <a:buNone/>
              <a:tabLst>
                <a:tab algn="l" pos="0"/>
              </a:tabLst>
            </a:pPr>
            <a:r>
              <a:rPr b="0" lang="pt-BR" sz="900" spc="-1" strike="noStrike">
                <a:solidFill>
                  <a:srgbClr val="ef4623"/>
                </a:solidFill>
                <a:latin typeface="Arial"/>
              </a:rPr>
              <a:t>Nome da Empresa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 rot="16200000">
            <a:off x="2662200" y="5876280"/>
            <a:ext cx="2471400" cy="406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pt-BR" sz="900" spc="-1" strike="noStrike">
                <a:solidFill>
                  <a:srgbClr val="ef4623"/>
                </a:solidFill>
                <a:latin typeface="Arial"/>
              </a:rPr>
              <a:t>Endereço Comercial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body"/>
          </p:nvPr>
        </p:nvSpPr>
        <p:spPr>
          <a:xfrm>
            <a:off x="442080" y="5422680"/>
            <a:ext cx="2423880" cy="189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Clique para adicionar texto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body"/>
          </p:nvPr>
        </p:nvSpPr>
        <p:spPr>
          <a:xfrm>
            <a:off x="442080" y="4146840"/>
            <a:ext cx="2423880" cy="1005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500" spc="-1" strike="noStrike">
                <a:solidFill>
                  <a:srgbClr val="ef4623"/>
                </a:solidFill>
                <a:latin typeface="Arial"/>
              </a:rPr>
              <a:t>Texto do título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7155360" y="1446120"/>
            <a:ext cx="2422800" cy="2307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800" spc="-1" strike="noStrike">
                <a:solidFill>
                  <a:srgbClr val="ef4623"/>
                </a:solidFill>
                <a:latin typeface="Arial"/>
              </a:rPr>
              <a:t>Texto do </a:t>
            </a:r>
            <a:r>
              <a:rPr b="1" lang="pt-BR" sz="3800" spc="-1" strike="noStrike">
                <a:solidFill>
                  <a:srgbClr val="ef4623"/>
                </a:solidFill>
                <a:latin typeface="Arial"/>
              </a:rPr>
              <a:t>título</a:t>
            </a:r>
            <a:endParaRPr b="0" lang="pt-BR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6"/>
          <p:cNvSpPr>
            <a:spLocks noGrp="1"/>
          </p:cNvSpPr>
          <p:nvPr>
            <p:ph type="body"/>
          </p:nvPr>
        </p:nvSpPr>
        <p:spPr>
          <a:xfrm>
            <a:off x="7155360" y="3997800"/>
            <a:ext cx="2422800" cy="61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Clique para adicionar </a:t>
            </a:r>
            <a:r>
              <a:rPr b="1" lang="pt-BR" sz="1800" spc="-1" strike="noStrike">
                <a:solidFill>
                  <a:srgbClr val="000000"/>
                </a:solidFill>
                <a:latin typeface="Arial"/>
              </a:rPr>
              <a:t>texto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7"/>
          <p:cNvSpPr>
            <a:spLocks noGrp="1"/>
          </p:cNvSpPr>
          <p:nvPr>
            <p:ph type="body"/>
          </p:nvPr>
        </p:nvSpPr>
        <p:spPr>
          <a:xfrm rot="16200000">
            <a:off x="3080880" y="4061520"/>
            <a:ext cx="2381400" cy="340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950" spc="-1" strike="noStrike">
                <a:solidFill>
                  <a:srgbClr val="000000"/>
                </a:solidFill>
                <a:latin typeface="Arial"/>
              </a:rPr>
              <a:t>Nome do Destinatário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Retângulo 17"/>
          <p:cNvSpPr/>
          <p:nvPr/>
        </p:nvSpPr>
        <p:spPr>
          <a:xfrm>
            <a:off x="442080" y="46584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" name="Retângulo 21"/>
          <p:cNvSpPr/>
          <p:nvPr/>
        </p:nvSpPr>
        <p:spPr>
          <a:xfrm>
            <a:off x="7154640" y="386748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9" name="PlaceHolder 8"/>
          <p:cNvSpPr>
            <a:spLocks noGrp="1"/>
          </p:cNvSpPr>
          <p:nvPr>
            <p:ph type="body"/>
          </p:nvPr>
        </p:nvSpPr>
        <p:spPr>
          <a:xfrm rot="16200000">
            <a:off x="3567960" y="3923280"/>
            <a:ext cx="2381400" cy="617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Endereço</a:t>
            </a:r>
            <a:br>
              <a:rPr sz="950"/>
            </a:b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Cidade, Estado, CEP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" name="PlaceHolder 9"/>
          <p:cNvSpPr>
            <a:spLocks noGrp="1"/>
          </p:cNvSpPr>
          <p:nvPr>
            <p:ph type="body"/>
          </p:nvPr>
        </p:nvSpPr>
        <p:spPr>
          <a:xfrm rot="16200000">
            <a:off x="5194800" y="4208760"/>
            <a:ext cx="178524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pt-BR" sz="900" spc="-1" strike="noStrike">
                <a:solidFill>
                  <a:srgbClr val="ef4623"/>
                </a:solidFill>
                <a:latin typeface="Arial"/>
              </a:rPr>
              <a:t>[Site]</a:t>
            </a:r>
            <a:br>
              <a:rPr sz="900"/>
            </a:br>
            <a:r>
              <a:rPr b="0" lang="pt-BR" sz="900" spc="-1" strike="noStrike">
                <a:solidFill>
                  <a:srgbClr val="ef4623"/>
                </a:solidFill>
                <a:latin typeface="Arial"/>
              </a:rPr>
              <a:t>[Email]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10"/>
          <p:cNvSpPr>
            <a:spLocks noGrp="1"/>
          </p:cNvSpPr>
          <p:nvPr>
            <p:ph type="body"/>
          </p:nvPr>
        </p:nvSpPr>
        <p:spPr>
          <a:xfrm rot="16200000">
            <a:off x="5194800" y="6101280"/>
            <a:ext cx="1785240" cy="642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pt-BR" sz="900" spc="-1" strike="noStrike">
                <a:solidFill>
                  <a:srgbClr val="ef4623"/>
                </a:solidFill>
                <a:latin typeface="Arial"/>
              </a:rPr>
              <a:t>Tel [Telefone]</a:t>
            </a:r>
            <a:br>
              <a:rPr sz="900"/>
            </a:br>
            <a:r>
              <a:rPr b="0" lang="pt-BR" sz="900" spc="-1" strike="noStrike">
                <a:solidFill>
                  <a:srgbClr val="ef4623"/>
                </a:solidFill>
                <a:latin typeface="Arial"/>
              </a:rPr>
              <a:t>Fax [Fax]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11"/>
          <p:cNvSpPr>
            <a:spLocks noGrp="1"/>
          </p:cNvSpPr>
          <p:nvPr>
            <p:ph type="body"/>
          </p:nvPr>
        </p:nvSpPr>
        <p:spPr>
          <a:xfrm>
            <a:off x="442080" y="839880"/>
            <a:ext cx="2423880" cy="208404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90000" rIns="90000" tIns="182880" bIns="45000" anchor="t">
            <a:normAutofit fontScale="57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formato do texto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 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nív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rut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ura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ico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" name="Retângulo 31"/>
          <p:cNvSpPr/>
          <p:nvPr/>
        </p:nvSpPr>
        <p:spPr>
          <a:xfrm>
            <a:off x="6435360" y="2011680"/>
            <a:ext cx="54360" cy="53031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" name="Retângulo 34"/>
          <p:cNvSpPr/>
          <p:nvPr/>
        </p:nvSpPr>
        <p:spPr>
          <a:xfrm>
            <a:off x="6435360" y="484920"/>
            <a:ext cx="54360" cy="127980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5" name="PlaceHolder 12"/>
          <p:cNvSpPr>
            <a:spLocks noGrp="1"/>
          </p:cNvSpPr>
          <p:nvPr>
            <p:ph type="body"/>
          </p:nvPr>
        </p:nvSpPr>
        <p:spPr>
          <a:xfrm>
            <a:off x="7155360" y="4658040"/>
            <a:ext cx="2422800" cy="3636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5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13"/>
          <p:cNvSpPr>
            <a:spLocks noGrp="1"/>
          </p:cNvSpPr>
          <p:nvPr>
            <p:ph type="body"/>
          </p:nvPr>
        </p:nvSpPr>
        <p:spPr>
          <a:xfrm>
            <a:off x="442440" y="5260680"/>
            <a:ext cx="2422800" cy="3636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5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Retângulo 20"/>
          <p:cNvSpPr/>
          <p:nvPr/>
        </p:nvSpPr>
        <p:spPr>
          <a:xfrm>
            <a:off x="442080" y="313884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8" name="PlaceHolder 14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4"/>
    <p:sldLayoutId id="2147483650" r:id="rId5"/>
    <p:sldLayoutId id="2147483651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  <p:sldLayoutId id="2147483660" r:id="rId15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body"/>
          </p:nvPr>
        </p:nvSpPr>
        <p:spPr>
          <a:xfrm>
            <a:off x="434520" y="569880"/>
            <a:ext cx="2422800" cy="1373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Clique para adicionar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texto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434520" y="2158560"/>
            <a:ext cx="2422800" cy="14562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12680" indent="-112680">
              <a:lnSpc>
                <a:spcPct val="12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Clique para adicionar texto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3"/>
          <p:cNvSpPr>
            <a:spLocks noGrp="1"/>
          </p:cNvSpPr>
          <p:nvPr>
            <p:ph type="body"/>
          </p:nvPr>
        </p:nvSpPr>
        <p:spPr>
          <a:xfrm>
            <a:off x="434520" y="3625560"/>
            <a:ext cx="2422800" cy="40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>
              <a:lnSpc>
                <a:spcPct val="114000"/>
              </a:lnSpc>
              <a:spcBef>
                <a:spcPts val="799"/>
              </a:spcBef>
              <a:buNone/>
              <a:tabLst>
                <a:tab algn="l" pos="0"/>
              </a:tabLst>
            </a:pPr>
            <a:r>
              <a:rPr b="1" lang="pt-BR" sz="1100" spc="-1" strike="noStrike">
                <a:solidFill>
                  <a:srgbClr val="000000"/>
                </a:solidFill>
                <a:latin typeface="Arial"/>
              </a:rPr>
              <a:t>Clique para adicionar texto</a:t>
            </a:r>
            <a:endParaRPr b="0" lang="pt-BR" sz="11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4"/>
          <p:cNvSpPr>
            <a:spLocks noGrp="1"/>
          </p:cNvSpPr>
          <p:nvPr>
            <p:ph type="body"/>
          </p:nvPr>
        </p:nvSpPr>
        <p:spPr>
          <a:xfrm>
            <a:off x="434520" y="4034880"/>
            <a:ext cx="2422800" cy="62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12680" indent="-112680">
              <a:lnSpc>
                <a:spcPct val="120000"/>
              </a:lnSpc>
              <a:spcBef>
                <a:spcPts val="6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Clique para adicionar texto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Conector Reto 34"/>
          <p:cNvSpPr/>
          <p:nvPr/>
        </p:nvSpPr>
        <p:spPr>
          <a:xfrm>
            <a:off x="3747960" y="918720"/>
            <a:ext cx="2652840" cy="360"/>
          </a:xfrm>
          <a:prstGeom prst="line">
            <a:avLst/>
          </a:prstGeom>
          <a:ln>
            <a:solidFill>
              <a:srgbClr val="ef462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0" name="PlaceHolder 5"/>
          <p:cNvSpPr>
            <a:spLocks noGrp="1"/>
          </p:cNvSpPr>
          <p:nvPr>
            <p:ph type="body"/>
          </p:nvPr>
        </p:nvSpPr>
        <p:spPr>
          <a:xfrm>
            <a:off x="7159680" y="1616040"/>
            <a:ext cx="244368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200" spc="-1" strike="noStrike">
                <a:solidFill>
                  <a:srgbClr val="ef4623"/>
                </a:solidFill>
                <a:latin typeface="Arial"/>
              </a:rPr>
              <a:t>Clique para adicionar citação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6"/>
          <p:cNvSpPr>
            <a:spLocks noGrp="1"/>
          </p:cNvSpPr>
          <p:nvPr>
            <p:ph type="body"/>
          </p:nvPr>
        </p:nvSpPr>
        <p:spPr>
          <a:xfrm>
            <a:off x="3772080" y="4784760"/>
            <a:ext cx="2422800" cy="253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12680" indent="-112680">
              <a:lnSpc>
                <a:spcPct val="12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Clique para adicionar texto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7"/>
          <p:cNvSpPr>
            <a:spLocks noGrp="1"/>
          </p:cNvSpPr>
          <p:nvPr>
            <p:ph type="body"/>
          </p:nvPr>
        </p:nvSpPr>
        <p:spPr>
          <a:xfrm>
            <a:off x="7155360" y="4359240"/>
            <a:ext cx="2441160" cy="2955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112680" indent="-112680">
              <a:lnSpc>
                <a:spcPct val="120000"/>
              </a:lnSpc>
              <a:spcBef>
                <a:spcPts val="901"/>
              </a:spcBef>
              <a:buClr>
                <a:srgbClr val="000000"/>
              </a:buClr>
              <a:buFont typeface="Arial"/>
              <a:buChar char="•"/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Clique para adicionar texto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Retângulo 37"/>
          <p:cNvSpPr/>
          <p:nvPr/>
        </p:nvSpPr>
        <p:spPr>
          <a:xfrm>
            <a:off x="433800" y="46584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4" name="PlaceHolder 8"/>
          <p:cNvSpPr>
            <a:spLocks noGrp="1"/>
          </p:cNvSpPr>
          <p:nvPr>
            <p:ph type="body"/>
          </p:nvPr>
        </p:nvSpPr>
        <p:spPr>
          <a:xfrm>
            <a:off x="3772080" y="3795840"/>
            <a:ext cx="2422800" cy="754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Clique para adicionar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texto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9"/>
          <p:cNvSpPr>
            <a:spLocks noGrp="1"/>
          </p:cNvSpPr>
          <p:nvPr>
            <p:ph type="body"/>
          </p:nvPr>
        </p:nvSpPr>
        <p:spPr>
          <a:xfrm>
            <a:off x="3942720" y="780480"/>
            <a:ext cx="2172600" cy="283428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90000" rIns="90000" tIns="182880" bIns="45000" anchor="t">
            <a:normAutofit fontScale="40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formato do texto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nível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 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5.º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nív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el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rut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ico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10"/>
          <p:cNvSpPr>
            <a:spLocks noGrp="1"/>
          </p:cNvSpPr>
          <p:nvPr>
            <p:ph type="body"/>
          </p:nvPr>
        </p:nvSpPr>
        <p:spPr>
          <a:xfrm>
            <a:off x="433440" y="4688280"/>
            <a:ext cx="2423880" cy="1860120"/>
          </a:xfrm>
          <a:prstGeom prst="rect">
            <a:avLst/>
          </a:prstGeom>
          <a:solidFill>
            <a:srgbClr val="d9d9d9"/>
          </a:solidFill>
          <a:ln w="0">
            <a:noFill/>
          </a:ln>
        </p:spPr>
        <p:txBody>
          <a:bodyPr lIns="90000" rIns="90000" tIns="182880" bIns="45000" anchor="t">
            <a:normAutofit fontScale="53000"/>
          </a:bodyPr>
          <a:p>
            <a:pPr marL="432000" indent="-324000">
              <a:lnSpc>
                <a:spcPct val="90000"/>
              </a:lnSpc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Clique para editar o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formato do texto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lnSpc>
                <a:spcPct val="9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2.º nível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lnSpc>
                <a:spcPct val="90000"/>
              </a:lnSpc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3.º nível 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estrutura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de tópicos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lnSpc>
                <a:spcPct val="90000"/>
              </a:lnSpc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4.º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nível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estrut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ura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de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tópico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5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º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l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6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lnSpc>
                <a:spcPct val="90000"/>
              </a:lnSpc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7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.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º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n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í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v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l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u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r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a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d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e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t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ó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p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i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c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o</a:t>
            </a:r>
            <a:r>
              <a:rPr b="0" lang="pt-BR" sz="1400" spc="-1" strike="noStrike">
                <a:solidFill>
                  <a:srgbClr val="000000"/>
                </a:solidFill>
                <a:latin typeface="Arial"/>
              </a:rPr>
              <a:t>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Retângulo 48"/>
          <p:cNvSpPr/>
          <p:nvPr/>
        </p:nvSpPr>
        <p:spPr>
          <a:xfrm>
            <a:off x="3771360" y="46584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8" name="Retângulo 49"/>
          <p:cNvSpPr/>
          <p:nvPr/>
        </p:nvSpPr>
        <p:spPr>
          <a:xfrm>
            <a:off x="7154640" y="46584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69" name="PlaceHolder 11"/>
          <p:cNvSpPr>
            <a:spLocks noGrp="1"/>
          </p:cNvSpPr>
          <p:nvPr>
            <p:ph type="body"/>
          </p:nvPr>
        </p:nvSpPr>
        <p:spPr>
          <a:xfrm>
            <a:off x="434520" y="2010960"/>
            <a:ext cx="2422800" cy="3636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5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12"/>
          <p:cNvSpPr>
            <a:spLocks noGrp="1"/>
          </p:cNvSpPr>
          <p:nvPr>
            <p:ph type="body"/>
          </p:nvPr>
        </p:nvSpPr>
        <p:spPr>
          <a:xfrm>
            <a:off x="3772080" y="4624560"/>
            <a:ext cx="2422800" cy="3636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5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1" name="PlaceHolder 13"/>
          <p:cNvSpPr>
            <a:spLocks noGrp="1"/>
          </p:cNvSpPr>
          <p:nvPr>
            <p:ph type="body"/>
          </p:nvPr>
        </p:nvSpPr>
        <p:spPr>
          <a:xfrm>
            <a:off x="7155360" y="569880"/>
            <a:ext cx="2441160" cy="81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Clique para adicionar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texto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14"/>
          <p:cNvSpPr>
            <a:spLocks noGrp="1"/>
          </p:cNvSpPr>
          <p:nvPr>
            <p:ph type="body"/>
          </p:nvPr>
        </p:nvSpPr>
        <p:spPr>
          <a:xfrm>
            <a:off x="7155360" y="1446480"/>
            <a:ext cx="2422800" cy="3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5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15"/>
          <p:cNvSpPr>
            <a:spLocks noGrp="1"/>
          </p:cNvSpPr>
          <p:nvPr>
            <p:ph type="body"/>
          </p:nvPr>
        </p:nvSpPr>
        <p:spPr>
          <a:xfrm>
            <a:off x="7159680" y="2354760"/>
            <a:ext cx="2443680" cy="281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137160">
              <a:lnSpc>
                <a:spcPct val="100000"/>
              </a:lnSpc>
              <a:buClr>
                <a:srgbClr val="000000"/>
              </a:buClr>
              <a:buFont typeface="Arial"/>
              <a:buChar char="—"/>
            </a:pPr>
            <a:r>
              <a:rPr b="0" lang="pt-BR" sz="900" spc="-1" strike="noStrike">
                <a:solidFill>
                  <a:srgbClr val="000000"/>
                </a:solidFill>
                <a:latin typeface="Arial"/>
              </a:rPr>
              <a:t>Clique para adicionar atribuição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16"/>
          <p:cNvSpPr>
            <a:spLocks noGrp="1"/>
          </p:cNvSpPr>
          <p:nvPr>
            <p:ph type="body"/>
          </p:nvPr>
        </p:nvSpPr>
        <p:spPr>
          <a:xfrm>
            <a:off x="7159680" y="2637000"/>
            <a:ext cx="244368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200" spc="-1" strike="noStrike">
                <a:solidFill>
                  <a:srgbClr val="ef4623"/>
                </a:solidFill>
                <a:latin typeface="Arial"/>
              </a:rPr>
              <a:t>Clique para adicionar citação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17"/>
          <p:cNvSpPr>
            <a:spLocks noGrp="1"/>
          </p:cNvSpPr>
          <p:nvPr>
            <p:ph type="body"/>
          </p:nvPr>
        </p:nvSpPr>
        <p:spPr>
          <a:xfrm>
            <a:off x="7159680" y="3375720"/>
            <a:ext cx="2443680" cy="2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28600" indent="-137160">
              <a:lnSpc>
                <a:spcPct val="100000"/>
              </a:lnSpc>
              <a:buClr>
                <a:srgbClr val="000000"/>
              </a:buClr>
              <a:buFont typeface="Arial"/>
              <a:buChar char="—"/>
            </a:pPr>
            <a:r>
              <a:rPr b="0" lang="pt-BR" sz="900" spc="-1" strike="noStrike">
                <a:solidFill>
                  <a:srgbClr val="000000"/>
                </a:solidFill>
                <a:latin typeface="Arial"/>
              </a:rPr>
              <a:t>Clique para adicionar atribuição</a:t>
            </a:r>
            <a:endParaRPr b="0" lang="pt-BR" sz="9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6" name="PlaceHolder 18"/>
          <p:cNvSpPr>
            <a:spLocks noGrp="1"/>
          </p:cNvSpPr>
          <p:nvPr>
            <p:ph type="body"/>
          </p:nvPr>
        </p:nvSpPr>
        <p:spPr>
          <a:xfrm>
            <a:off x="7155360" y="3659040"/>
            <a:ext cx="2441160" cy="48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Clique para adicionar </a:t>
            </a:r>
            <a:r>
              <a:rPr b="1" lang="pt-BR" sz="1500" spc="-1" strike="noStrike">
                <a:solidFill>
                  <a:srgbClr val="000000"/>
                </a:solidFill>
                <a:latin typeface="Arial"/>
              </a:rPr>
              <a:t>texto</a:t>
            </a:r>
            <a:endParaRPr b="0" lang="pt-BR" sz="1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19"/>
          <p:cNvSpPr>
            <a:spLocks noGrp="1"/>
          </p:cNvSpPr>
          <p:nvPr>
            <p:ph type="body"/>
          </p:nvPr>
        </p:nvSpPr>
        <p:spPr>
          <a:xfrm>
            <a:off x="7155360" y="4210920"/>
            <a:ext cx="2422800" cy="36360"/>
          </a:xfrm>
          <a:prstGeom prst="rect">
            <a:avLst/>
          </a:prstGeom>
          <a:blipFill rotWithShape="0">
            <a:blip r:embed="rId5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0" lang="pt-BR" sz="500" spc="-1" strike="noStrike">
                <a:solidFill>
                  <a:srgbClr val="000000"/>
                </a:solidFill>
                <a:latin typeface="Arial"/>
              </a:rPr>
              <a:t> </a:t>
            </a:r>
            <a:endParaRPr b="0" lang="pt-BR" sz="5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Retângulo 27"/>
          <p:cNvSpPr/>
          <p:nvPr/>
        </p:nvSpPr>
        <p:spPr>
          <a:xfrm rot="16200000">
            <a:off x="2590560" y="198396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79" name="Retângulo 28"/>
          <p:cNvSpPr/>
          <p:nvPr/>
        </p:nvSpPr>
        <p:spPr>
          <a:xfrm>
            <a:off x="411120" y="7001280"/>
            <a:ext cx="2423880" cy="5436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80" name="PlaceHolder 20"/>
          <p:cNvSpPr>
            <a:spLocks noGrp="1"/>
          </p:cNvSpPr>
          <p:nvPr>
            <p:ph type="title"/>
          </p:nvPr>
        </p:nvSpPr>
        <p:spPr>
          <a:xfrm>
            <a:off x="502920" y="309960"/>
            <a:ext cx="9052200" cy="1297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r>
              <a:rPr b="0" lang="pt-BR" sz="1800" spc="-1" strike="noStrike">
                <a:solidFill>
                  <a:srgbClr val="000000"/>
                </a:solidFill>
                <a:latin typeface="Arial"/>
              </a:rPr>
              <a:t>Clique para editar o formato do texto do título</a:t>
            </a:r>
            <a:endParaRPr b="0" lang="pt-BR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  <p:sldLayoutId id="2147483672" r:id="rId16"/>
    <p:sldLayoutId id="2147483673" r:id="rId17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image" Target="../media/image8.png"/><Relationship Id="rId3" Type="http://schemas.openxmlformats.org/officeDocument/2006/relationships/hyperlink" Target="https://portal.mec.gov.br/conheca-o-ideb" TargetMode="External"/><Relationship Id="rId4" Type="http://schemas.openxmlformats.org/officeDocument/2006/relationships/hyperlink" Target="https://faculdade.grancursosonline.com.br/blog/ideb/" TargetMode="External"/><Relationship Id="rId5" Type="http://schemas.openxmlformats.org/officeDocument/2006/relationships/hyperlink" Target="https://pt.wikipedia.org/wiki/Lista_de_munic&#237;pios_da_Bahia_por_IDH-M" TargetMode="External"/><Relationship Id="rId6" Type="http://schemas.openxmlformats.org/officeDocument/2006/relationships/image" Target="../media/image9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3.xml"/><Relationship Id="rId6" Type="http://schemas.openxmlformats.org/officeDocument/2006/relationships/notesSlide" Target="../notesSlides/notesSlide2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/>
          </p:nvPr>
        </p:nvSpPr>
        <p:spPr>
          <a:xfrm>
            <a:off x="7155360" y="2473200"/>
            <a:ext cx="2422800" cy="12805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90000"/>
              </a:lnSpc>
              <a:buNone/>
              <a:tabLst>
                <a:tab algn="l" pos="0"/>
              </a:tabLst>
            </a:pPr>
            <a:r>
              <a:rPr b="1" lang="pt-BR" sz="3800" spc="-1" strike="noStrike">
                <a:solidFill>
                  <a:srgbClr val="c00000"/>
                </a:solidFill>
                <a:latin typeface="Arial"/>
              </a:rPr>
              <a:t>Itapicuru - </a:t>
            </a:r>
            <a:r>
              <a:rPr b="1" lang="pt-BR" sz="3800" spc="-1" strike="noStrike">
                <a:solidFill>
                  <a:srgbClr val="c00000"/>
                </a:solidFill>
                <a:latin typeface="Arial"/>
              </a:rPr>
              <a:t>BA</a:t>
            </a:r>
            <a:endParaRPr b="0" lang="pt-BR" sz="3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/>
          </p:nvPr>
        </p:nvSpPr>
        <p:spPr>
          <a:xfrm>
            <a:off x="7155360" y="3997800"/>
            <a:ext cx="2422800" cy="616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pt-BR" sz="1200" spc="-1" strike="noStrike">
                <a:solidFill>
                  <a:srgbClr val="000000"/>
                </a:solidFill>
                <a:latin typeface="Arial"/>
              </a:rPr>
              <a:t>Ponto forte da economia local: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</a:rPr>
              <a:t>Agricultura de subsistência e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</a:rPr>
              <a:t>pecuária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/>
          </p:nvPr>
        </p:nvSpPr>
        <p:spPr>
          <a:xfrm>
            <a:off x="7020000" y="5580000"/>
            <a:ext cx="2559240" cy="5400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NOME :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</a:rPr>
              <a:t>José Eduardo Carvalho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50000"/>
              </a:lnSpc>
              <a:buNone/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CURSO: </a:t>
            </a:r>
            <a:r>
              <a:rPr b="1" lang="pt-BR" sz="1200" spc="-1" strike="noStrike">
                <a:solidFill>
                  <a:srgbClr val="000000"/>
                </a:solidFill>
                <a:latin typeface="Arial"/>
              </a:rPr>
              <a:t>Ciências Econômicas</a:t>
            </a:r>
            <a:endParaRPr b="0" lang="pt-BR" sz="1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6" name="PlaceHolder 4"/>
          <p:cNvSpPr>
            <a:spLocks noGrp="1"/>
          </p:cNvSpPr>
          <p:nvPr>
            <p:ph/>
          </p:nvPr>
        </p:nvSpPr>
        <p:spPr>
          <a:xfrm>
            <a:off x="7155360" y="4658040"/>
            <a:ext cx="2422800" cy="363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7" name="Conector Reto 17"/>
          <p:cNvSpPr/>
          <p:nvPr/>
        </p:nvSpPr>
        <p:spPr>
          <a:xfrm>
            <a:off x="3291840" y="0"/>
            <a:ext cx="360" cy="7772400"/>
          </a:xfrm>
          <a:prstGeom prst="line">
            <a:avLst/>
          </a:prstGeom>
          <a:ln>
            <a:solidFill>
              <a:srgbClr val="c8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8" name="Conector Reto 18"/>
          <p:cNvSpPr/>
          <p:nvPr/>
        </p:nvSpPr>
        <p:spPr>
          <a:xfrm>
            <a:off x="6675120" y="0"/>
            <a:ext cx="360" cy="7772400"/>
          </a:xfrm>
          <a:prstGeom prst="line">
            <a:avLst/>
          </a:prstGeom>
          <a:ln>
            <a:solidFill>
              <a:srgbClr val="c8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29" name="PlaceHolder 5"/>
          <p:cNvSpPr>
            <a:spLocks noGrp="1"/>
          </p:cNvSpPr>
          <p:nvPr>
            <p:ph/>
          </p:nvPr>
        </p:nvSpPr>
        <p:spPr>
          <a:xfrm>
            <a:off x="3600000" y="6660000"/>
            <a:ext cx="2441160" cy="47124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Preencher com as fontes utilizadas em </a:t>
            </a: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formato ABNT.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0" name="Espaço Reservado para Texto 3"/>
          <p:cNvSpPr txBox="1"/>
          <p:nvPr/>
        </p:nvSpPr>
        <p:spPr>
          <a:xfrm>
            <a:off x="436320" y="579960"/>
            <a:ext cx="244368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i="1" lang="pt-BR" sz="1000" spc="-1" strike="noStrike">
                <a:solidFill>
                  <a:srgbClr val="000000"/>
                </a:solidFill>
                <a:latin typeface="Arial"/>
              </a:rPr>
              <a:t>IDEB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 é o Índice de Desenvolvimento da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Educação Básica, criado em 2007, pelo 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Inep, formulado para medir a qualidade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do aprendizado nacional e estabelecer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metas para a melhoria do ensino. Seu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cálculo envolve 2 principais aspectos: 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fluxo escolar e as médias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desempenho nas avaliações. Nos anos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iniciais Itapicuru tem um indicador de 4,4,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colocando-o na posição 5022/5571 no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Brasil e 316/417 no Estado. Nos anos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finais, 3,0 (5338/5571 e 380/417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respectivamente)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1" name="Espaço Reservado para Texto 4"/>
          <p:cNvSpPr txBox="1"/>
          <p:nvPr/>
        </p:nvSpPr>
        <p:spPr>
          <a:xfrm>
            <a:off x="436320" y="3279960"/>
            <a:ext cx="244368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i="1" lang="pt-BR" sz="1000" spc="-1" strike="noStrike">
                <a:solidFill>
                  <a:srgbClr val="000000"/>
                </a:solidFill>
                <a:latin typeface="Arial"/>
              </a:rPr>
              <a:t>Bibliografia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: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BRESSER-PEREIRA, L. C.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Desenvolvimento, crescimento 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salário. São Paulo: Escola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Economia de São Paulo da Fundação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Getulio Vargas (EESP/FGV), ago.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2008. (Texto para Discussão, n. 169)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IBGE – Instituto Brasileiro de Geografia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 Estatística. Panorama – Itapicuru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(BA). Cidades@. Disponível em: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https://cidades.ibge.gov.br/brasil/ba/ita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picuru/panorama. Acesso em: 16 jun.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2025.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MATOS, P. de O. Análise dos planos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desenvolvimento elaborados no Brasil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após o II PND Piracicaba, 2002.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  <a:hlinkClick r:id="rId3"/>
              </a:rPr>
              <a:t>https://portal.mec.gov.br/conheca-o-ideb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  <a:hlinkClick r:id="rId4"/>
              </a:rPr>
              <a:t>https://faculdade.grancursosonline.com.br/blog/ideb/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  <a:hlinkClick r:id="rId5"/>
              </a:rPr>
              <a:t>https://pt.wikipedia.org/wiki/Lista_de_munic%C3%ADpios_da_Bahia_por_IDH-M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Espaço Reservado para Texto 9"/>
          <p:cNvSpPr txBox="1"/>
          <p:nvPr/>
        </p:nvSpPr>
        <p:spPr>
          <a:xfrm>
            <a:off x="3600000" y="939960"/>
            <a:ext cx="244368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Itapicuru, BA, apresenta-se como um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município com potencial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desenvolvimento significativo, mas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que enfrenta desafios sociais 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estruturais que justificam o aporte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financiamento da ONU, demonstrando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uma base econômica que pode ser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alavancada para um crescimento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sustentado, alinhado ao objetivo. No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entanto, indicadores sociais revelam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necessidades urgentes: a taxa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Mortalidade Infantil em 2022 foi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25,64 óbitos por mil nascidos vivos, 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o IDEB dos anos finais do ensino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fundamental na rede pública em 2023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foi de apenas 3,0. Esses dados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evidenciam carências críticas em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saúde e educação, essenciais para 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desenvolvimento humano. Embora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políticas como o aumento real do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salário mínimo e o Bolsa Família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tenham contribuído para a distribuição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de renda e o alívio imediato da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pobreza, são necessárias mudanças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estruturais profundas nas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capacidades. O financiamento da ONU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é crucial para um desenvolvimento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equilibrado, superando esses gargalos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sociais e investindo nas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potencialidades econômicas,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promovendo um crescimento inclusivo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que melhore a qualidade de vida da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população da cidade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3" name="Espaço Reservado para Texto 10"/>
          <p:cNvSpPr txBox="1"/>
          <p:nvPr/>
        </p:nvSpPr>
        <p:spPr>
          <a:xfrm>
            <a:off x="3600000" y="428760"/>
            <a:ext cx="2441160" cy="471240"/>
          </a:xfrm>
          <a:prstGeom prst="rect">
            <a:avLst/>
          </a:prstGeom>
          <a:blipFill rotWithShape="0">
            <a:blip r:embed="rId6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Preencher com as fontes utilizadas em </a:t>
            </a:r>
            <a:r>
              <a:rPr b="0" lang="pt-BR" sz="950" spc="-1" strike="noStrike">
                <a:solidFill>
                  <a:srgbClr val="000000"/>
                </a:solidFill>
                <a:latin typeface="Arial"/>
              </a:rPr>
              <a:t>formato ABNT.</a:t>
            </a: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PlaceHolder 1"/>
          <p:cNvSpPr>
            <a:spLocks noGrp="1"/>
          </p:cNvSpPr>
          <p:nvPr>
            <p:ph/>
          </p:nvPr>
        </p:nvSpPr>
        <p:spPr>
          <a:xfrm>
            <a:off x="434520" y="569880"/>
            <a:ext cx="2422800" cy="3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Apresentação do Município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5" name="PlaceHolder 2"/>
          <p:cNvSpPr>
            <a:spLocks noGrp="1"/>
          </p:cNvSpPr>
          <p:nvPr>
            <p:ph/>
          </p:nvPr>
        </p:nvSpPr>
        <p:spPr>
          <a:xfrm>
            <a:off x="6971400" y="4798800"/>
            <a:ext cx="2443680" cy="680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73080" indent="-73080">
              <a:lnSpc>
                <a:spcPct val="120000"/>
              </a:lnSpc>
              <a:spcBef>
                <a:spcPts val="400"/>
              </a:spcBef>
              <a:buNone/>
              <a:tabLst>
                <a:tab algn="l" pos="0"/>
              </a:tabLst>
            </a:pPr>
            <a:r>
              <a:rPr b="1" i="1" lang="pt-BR" sz="1000" spc="-1" strike="noStrike">
                <a:solidFill>
                  <a:srgbClr val="000000"/>
                </a:solidFill>
                <a:latin typeface="Arial"/>
              </a:rPr>
              <a:t>IDH-M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: É um indicador que busca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captar e sintetizar as diversas 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complexas dimensões do processo de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desenvolvimento humano se valendo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dos seguintes indicadores: para medir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a longevidade, a esperança de vida ao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nascer; para o nível educacional, 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taxa de alfabetização dos adultos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combinada com a taxa de matrícula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nos ensinos fundamental, médio 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superior; e como indicador de acesso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aos recursos, utiliza-se a renda per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capita. Itapicuru ocupa a última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posição no Estado para esse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indicador.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3"/>
          <p:cNvSpPr>
            <a:spLocks noGrp="1"/>
          </p:cNvSpPr>
          <p:nvPr>
            <p:ph/>
          </p:nvPr>
        </p:nvSpPr>
        <p:spPr>
          <a:xfrm>
            <a:off x="3789000" y="4249800"/>
            <a:ext cx="2422800" cy="253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O</a:t>
            </a:r>
            <a:r>
              <a:rPr b="1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PIB per Capita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 (Produto Interno Bruto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per Capita) é um indicador econômico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que serve como parâmetro para 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atividade econômica de um município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ou país. Ele representa a renda por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pessoa, e seu aumento está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intrinsecamente ligado à melhoria dos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padrões de vida. Com um PIB per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  <a:ea typeface="Noto Sans CJK SC"/>
              </a:rPr>
              <a:t>capita de R$ 12.139,08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Itapicuru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 ocupa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a posição 4350/5571 do Brasil e a 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posição 198/417no Estado da Bahia.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4"/>
          <p:cNvSpPr>
            <a:spLocks noGrp="1"/>
          </p:cNvSpPr>
          <p:nvPr>
            <p:ph/>
          </p:nvPr>
        </p:nvSpPr>
        <p:spPr>
          <a:xfrm>
            <a:off x="3772080" y="3795840"/>
            <a:ext cx="2422800" cy="240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Indicadores Econômicos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8" name="PlaceHolder 5"/>
          <p:cNvSpPr>
            <a:spLocks noGrp="1"/>
          </p:cNvSpPr>
          <p:nvPr>
            <p:ph/>
          </p:nvPr>
        </p:nvSpPr>
        <p:spPr>
          <a:xfrm>
            <a:off x="431280" y="1018080"/>
            <a:ext cx="2422800" cy="36360"/>
          </a:xfrm>
          <a:prstGeom prst="rect">
            <a:avLst/>
          </a:prstGeom>
          <a:blipFill rotWithShape="0">
            <a:blip r:embed="rId1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9" name="PlaceHolder 6"/>
          <p:cNvSpPr>
            <a:spLocks noGrp="1"/>
          </p:cNvSpPr>
          <p:nvPr>
            <p:ph/>
          </p:nvPr>
        </p:nvSpPr>
        <p:spPr>
          <a:xfrm>
            <a:off x="3780360" y="4055400"/>
            <a:ext cx="2422800" cy="36360"/>
          </a:xfrm>
          <a:prstGeom prst="rect">
            <a:avLst/>
          </a:prstGeom>
          <a:blipFill rotWithShape="0">
            <a:blip r:embed="rId2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0" name="PlaceHolder 7"/>
          <p:cNvSpPr>
            <a:spLocks noGrp="1"/>
          </p:cNvSpPr>
          <p:nvPr>
            <p:ph/>
          </p:nvPr>
        </p:nvSpPr>
        <p:spPr>
          <a:xfrm>
            <a:off x="7029720" y="3761280"/>
            <a:ext cx="2441160" cy="8121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pt-BR" sz="1400" spc="-1" strike="noStrike">
                <a:solidFill>
                  <a:srgbClr val="000000"/>
                </a:solidFill>
                <a:latin typeface="Arial"/>
              </a:rPr>
              <a:t>Indicadores Sociais</a:t>
            </a:r>
            <a:endParaRPr b="0" lang="pt-BR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Conector Reto 20"/>
          <p:cNvSpPr/>
          <p:nvPr/>
        </p:nvSpPr>
        <p:spPr>
          <a:xfrm>
            <a:off x="6766560" y="0"/>
            <a:ext cx="360" cy="7772400"/>
          </a:xfrm>
          <a:prstGeom prst="line">
            <a:avLst/>
          </a:prstGeom>
          <a:ln>
            <a:solidFill>
              <a:srgbClr val="c8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2" name="Conector Reto 2"/>
          <p:cNvSpPr/>
          <p:nvPr/>
        </p:nvSpPr>
        <p:spPr>
          <a:xfrm>
            <a:off x="3383280" y="0"/>
            <a:ext cx="360" cy="7772400"/>
          </a:xfrm>
          <a:prstGeom prst="line">
            <a:avLst/>
          </a:prstGeom>
          <a:ln>
            <a:solidFill>
              <a:srgbClr val="c8c8c8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/>
        </p:style>
      </p:sp>
      <p:sp>
        <p:nvSpPr>
          <p:cNvPr id="143" name="CaixaDeTexto 24"/>
          <p:cNvSpPr/>
          <p:nvPr/>
        </p:nvSpPr>
        <p:spPr>
          <a:xfrm>
            <a:off x="3863520" y="720000"/>
            <a:ext cx="2422800" cy="260100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pt-BR" sz="1500" spc="-1" strike="noStrike">
                <a:solidFill>
                  <a:srgbClr val="c00000"/>
                </a:solidFill>
                <a:latin typeface="Arial"/>
              </a:rPr>
              <a:t>Índice de Desenvolvimento Humano Municipal (IDHM) [2010]: 0,486; </a:t>
            </a: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endParaRPr b="0" lang="pt-BR" sz="1500" spc="-1" strike="noStrike">
              <a:latin typeface="Arial"/>
            </a:endParaRPr>
          </a:p>
          <a:p>
            <a:pPr>
              <a:lnSpc>
                <a:spcPct val="100000"/>
              </a:lnSpc>
              <a:buNone/>
            </a:pPr>
            <a:r>
              <a:rPr b="0" i="1" lang="pt-BR" sz="1500" spc="-1" strike="noStrike">
                <a:solidFill>
                  <a:srgbClr val="c00000"/>
                </a:solidFill>
                <a:latin typeface="Arial"/>
              </a:rPr>
              <a:t>IDEB – Anos iniciais do ensino fundamental (Rede pública) [2023]: 4,4; IDEB – Anos finais do ensino fundamental (Rede pública) [2023]: 3,0 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144" name="CaixaDeTexto 26"/>
          <p:cNvSpPr/>
          <p:nvPr/>
        </p:nvSpPr>
        <p:spPr>
          <a:xfrm>
            <a:off x="370440" y="5919480"/>
            <a:ext cx="2624040" cy="819720"/>
          </a:xfrm>
          <a:prstGeom prst="rect">
            <a:avLst/>
          </a:prstGeom>
          <a:noFill/>
          <a:ln w="0">
            <a:solidFill>
              <a:srgbClr val="c00000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t">
            <a:spAutoFit/>
          </a:bodyPr>
          <a:p>
            <a:pPr>
              <a:lnSpc>
                <a:spcPct val="100000"/>
              </a:lnSpc>
              <a:buNone/>
            </a:pPr>
            <a:r>
              <a:rPr b="0" i="1" lang="pt-BR" sz="1600" spc="-1" strike="noStrike">
                <a:solidFill>
                  <a:srgbClr val="c00000"/>
                </a:solidFill>
                <a:latin typeface="Arial"/>
              </a:rPr>
              <a:t>PIB Per Capita (2021): R$ 12.139,08; População ocupada [2022]: 10,42 %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45" name="PlaceHolder 8"/>
          <p:cNvSpPr>
            <a:spLocks noGrp="1"/>
          </p:cNvSpPr>
          <p:nvPr>
            <p:ph/>
          </p:nvPr>
        </p:nvSpPr>
        <p:spPr>
          <a:xfrm>
            <a:off x="6921720" y="4249800"/>
            <a:ext cx="2423880" cy="36000"/>
          </a:xfrm>
          <a:prstGeom prst="rect">
            <a:avLst/>
          </a:prstGeom>
          <a:blipFill rotWithShape="0">
            <a:blip r:embed="rId3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9"/>
          <p:cNvSpPr>
            <a:spLocks noGrp="1"/>
          </p:cNvSpPr>
          <p:nvPr>
            <p:ph/>
          </p:nvPr>
        </p:nvSpPr>
        <p:spPr>
          <a:xfrm>
            <a:off x="6922080" y="4619880"/>
            <a:ext cx="2422800" cy="36360"/>
          </a:xfrm>
          <a:prstGeom prst="rect">
            <a:avLst/>
          </a:prstGeom>
          <a:blipFill rotWithShape="0">
            <a:blip r:embed="rId4"/>
            <a:stretch/>
          </a:blipFill>
          <a:ln w="0">
            <a:noFill/>
          </a:ln>
        </p:spPr>
        <p:txBody>
          <a:bodyPr anchor="t">
            <a:noAutofit/>
          </a:bodyPr>
          <a:p>
            <a:pPr>
              <a:lnSpc>
                <a:spcPct val="90000"/>
              </a:lnSpc>
              <a:spcBef>
                <a:spcPts val="1417"/>
              </a:spcBef>
              <a:buNone/>
            </a:pPr>
            <a:endParaRPr b="0" lang="pt-BR" sz="2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10"/>
          <p:cNvSpPr>
            <a:spLocks noGrp="1"/>
          </p:cNvSpPr>
          <p:nvPr>
            <p:ph/>
          </p:nvPr>
        </p:nvSpPr>
        <p:spPr>
          <a:xfrm>
            <a:off x="7142040" y="596880"/>
            <a:ext cx="2422800" cy="25300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Para o IBGE (https://painel.ibge.gov.br/pnadc/), “</a:t>
            </a:r>
            <a:r>
              <a:rPr b="1" i="1" lang="pt-BR" sz="1000" spc="-1" strike="noStrike">
                <a:solidFill>
                  <a:srgbClr val="000000"/>
                </a:solidFill>
                <a:latin typeface="Arial"/>
              </a:rPr>
              <a:t>População ocupada</a:t>
            </a:r>
            <a:r>
              <a:rPr b="0" i="1" lang="pt-BR" sz="1000" spc="-1" strike="noStrike">
                <a:solidFill>
                  <a:srgbClr val="000000"/>
                </a:solidFill>
                <a:latin typeface="Arial"/>
              </a:rPr>
              <a:t>” representa, em relação a população geral do município) o percentual de pessoas de 14 anos ou mais de idade que, na semana de referência , trabalharam pelo menos uma hora completa em trabalho remunerado em dinheiro, produtos, mercadorias ou benefícios (moradia, alimentação, roupas, treinamento etc.), ou em trabalho sem remuneração direta em ajuda à atividade econômica de membro do domicílio ou parente que reside em outro domicílio, ou, ainda, as que tinham trabalho remunerado do qual estavam temporariamente afastadas nessa semana. Arraial ocupa a posição 4216/5571 do Brasil e a posição 190/417 do Estado da Bahia.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endParaRPr b="0" lang="pt-BR" sz="95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8" name="PlaceHolder 11"/>
          <p:cNvSpPr>
            <a:spLocks noGrp="1"/>
          </p:cNvSpPr>
          <p:nvPr>
            <p:ph/>
          </p:nvPr>
        </p:nvSpPr>
        <p:spPr>
          <a:xfrm>
            <a:off x="443520" y="1236960"/>
            <a:ext cx="2422800" cy="43264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algn="just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O município de Itapicuru, no estado da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Bahia, apresenta as seguintes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características em termos de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indicadores econômicos e sociais, de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acordo com dados do IBGE de 2022 e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DATASUS de 2022 e 2024: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População: 31.679 pessoas; Densidade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Demográfica: 20,34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 habitantes por km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²;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;  Cor ou Raça Predominante: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Parda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(21.568 pessoas), seguida por branca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(5.573) e , Preta (4.503),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	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IDEB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–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Anos iniciais do ensino fundamental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(Rede pública) [2023]: 4,4;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IDEB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– Anos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finais do ensino fundamental (Rede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pública) [2023]: 3,0;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Mortalidade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Infantil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[2022]:25,64 óbitos por mil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nascidos vivos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  <a:p>
            <a:pPr algn="just">
              <a:lnSpc>
                <a:spcPct val="120000"/>
              </a:lnSpc>
              <a:spcBef>
                <a:spcPts val="901"/>
              </a:spcBef>
              <a:buNone/>
              <a:tabLst>
                <a:tab algn="l" pos="0"/>
              </a:tabLst>
            </a:pP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Indicadores Econômicos: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PIB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Per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Capita (2021):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R$ 12.139,08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;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Salário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médio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mensal dos trabalhadores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formais [2022]: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1,9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salários mínimos; 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População ocupada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 [2022]: 10,42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 %; </a:t>
            </a:r>
            <a:r>
              <a:rPr b="0" lang="pt-BR" sz="1000" spc="-1" strike="noStrike">
                <a:solidFill>
                  <a:srgbClr val="000000"/>
                </a:solidFill>
                <a:latin typeface="Arial"/>
              </a:rPr>
              <a:t>IDH-M (2010)</a:t>
            </a:r>
            <a:r>
              <a:rPr b="1" lang="pt-BR" sz="1000" spc="-1" strike="noStrike">
                <a:solidFill>
                  <a:srgbClr val="000000"/>
                </a:solidFill>
                <a:latin typeface="Arial"/>
              </a:rPr>
              <a:t>: 0,486 </a:t>
            </a:r>
            <a:endParaRPr b="0" lang="pt-BR" sz="1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f462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f462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ef4623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customXml/_rels/item1.xml.rels><?xml version="1.0" encoding="UTF-8"?>
<Relationships xmlns="http://schemas.openxmlformats.org/package/2006/relationships"><Relationship Id="rId1" Type="http://schemas.openxmlformats.org/officeDocument/2006/relationships/customXmlProps" Target="itemProps1.xml"/>
</Relationships>
</file>

<file path=customXml/_rels/item2.xml.rels><?xml version="1.0" encoding="UTF-8"?>
<Relationships xmlns="http://schemas.openxmlformats.org/package/2006/relationships"><Relationship Id="rId1" Type="http://schemas.openxmlformats.org/officeDocument/2006/relationships/customXmlProps" Target="itemProps2.xml"/>
</Relationships>
</file>

<file path=customXml/_rels/item3.xml.rels><?xml version="1.0" encoding="UTF-8"?>
<Relationships xmlns="http://schemas.openxmlformats.org/package/2006/relationships"><Relationship Id="rId1" Type="http://schemas.openxmlformats.org/officeDocument/2006/relationships/customXmlProps" Target="itemProps3.xml"/>
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C1D5F340F01F94FA2FD29A5E6DC872E" ma:contentTypeVersion="0" ma:contentTypeDescription="Create a new document." ma:contentTypeScope="" ma:versionID="f583bd66513a361a730282b6a794e352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6841151cf538834e171094e4faaf2d73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C3927621-33BA-4C7B-B00E-AAFA1CE7DB14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D950E548-EB92-45B1-BD32-B49FA21BA3C1}">
  <ds:schemaRefs>
    <ds:schemaRef ds:uri="http://schemas.microsoft.com/office/2006/metadata/properties"/>
    <ds:schemaRef ds:uri="http://www.w3.org/XML/1998/namespace"/>
    <ds:schemaRef ds:uri="http://purl.org/dc/terms/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purl.org/dc/dcmitype/"/>
  </ds:schemaRefs>
</ds:datastoreItem>
</file>

<file path=customXml/itemProps3.xml><?xml version="1.0" encoding="utf-8"?>
<ds:datastoreItem xmlns:ds="http://schemas.openxmlformats.org/officeDocument/2006/customXml" ds:itemID="{492355CA-56AF-4BDE-95DC-9786C08C819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220</TotalTime>
  <Application>LibreOffice/7.3.7.2$Linux_X86_64 LibreOffice_project/30$Build-2</Application>
  <AppVersion>15.0000</AppVersion>
  <Words>339</Words>
  <Paragraphs>31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2013-07-31T14:07:30Z</dcterms:created>
  <dc:creator/>
  <dc:description/>
  <dc:language>pt-BR</dc:language>
  <cp:lastModifiedBy/>
  <dcterms:modified xsi:type="dcterms:W3CDTF">2025-06-16T16:16:05Z</dcterms:modified>
  <cp:revision>14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0x0101007C1D5F340F01F94FA2FD29A5E6DC872E</vt:lpwstr>
  </property>
  <property fmtid="{D5CDD505-2E9C-101B-9397-08002B2CF9AE}" pid="3" name="Notes">
    <vt:i4>2</vt:i4>
  </property>
  <property fmtid="{D5CDD505-2E9C-101B-9397-08002B2CF9AE}" pid="4" name="PresentationFormat">
    <vt:lpwstr>Custom</vt:lpwstr>
  </property>
  <property fmtid="{D5CDD505-2E9C-101B-9397-08002B2CF9AE}" pid="5" name="Slides">
    <vt:i4>2</vt:i4>
  </property>
</Properties>
</file>