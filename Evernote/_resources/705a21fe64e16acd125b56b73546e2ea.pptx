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5" d="100"/>
          <a:sy n="45" d="100"/>
        </p:scale>
        <p:origin x="-6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A282-E8F1-43C5-90B7-CBB27893A3D3}" type="datetimeFigureOut">
              <a:rPr lang="pt-BR" smtClean="0"/>
              <a:t>17/01/2014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58FEA-A700-4507-B723-1262AD8F790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A282-E8F1-43C5-90B7-CBB27893A3D3}" type="datetimeFigureOut">
              <a:rPr lang="pt-BR" smtClean="0"/>
              <a:t>17/01/2014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58FEA-A700-4507-B723-1262AD8F790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A282-E8F1-43C5-90B7-CBB27893A3D3}" type="datetimeFigureOut">
              <a:rPr lang="pt-BR" smtClean="0"/>
              <a:t>17/01/2014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58FEA-A700-4507-B723-1262AD8F790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A282-E8F1-43C5-90B7-CBB27893A3D3}" type="datetimeFigureOut">
              <a:rPr lang="pt-BR" smtClean="0"/>
              <a:t>17/01/2014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58FEA-A700-4507-B723-1262AD8F790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A282-E8F1-43C5-90B7-CBB27893A3D3}" type="datetimeFigureOut">
              <a:rPr lang="pt-BR" smtClean="0"/>
              <a:t>17/01/2014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58FEA-A700-4507-B723-1262AD8F790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A282-E8F1-43C5-90B7-CBB27893A3D3}" type="datetimeFigureOut">
              <a:rPr lang="pt-BR" smtClean="0"/>
              <a:t>17/01/2014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58FEA-A700-4507-B723-1262AD8F790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A282-E8F1-43C5-90B7-CBB27893A3D3}" type="datetimeFigureOut">
              <a:rPr lang="pt-BR" smtClean="0"/>
              <a:t>17/01/2014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58FEA-A700-4507-B723-1262AD8F790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A282-E8F1-43C5-90B7-CBB27893A3D3}" type="datetimeFigureOut">
              <a:rPr lang="pt-BR" smtClean="0"/>
              <a:t>17/01/2014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58FEA-A700-4507-B723-1262AD8F790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A282-E8F1-43C5-90B7-CBB27893A3D3}" type="datetimeFigureOut">
              <a:rPr lang="pt-BR" smtClean="0"/>
              <a:t>17/01/2014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58FEA-A700-4507-B723-1262AD8F790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A282-E8F1-43C5-90B7-CBB27893A3D3}" type="datetimeFigureOut">
              <a:rPr lang="pt-BR" smtClean="0"/>
              <a:t>17/01/2014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58FEA-A700-4507-B723-1262AD8F790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A282-E8F1-43C5-90B7-CBB27893A3D3}" type="datetimeFigureOut">
              <a:rPr lang="pt-BR" smtClean="0"/>
              <a:t>17/01/2014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58FEA-A700-4507-B723-1262AD8F790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16A282-E8F1-43C5-90B7-CBB27893A3D3}" type="datetimeFigureOut">
              <a:rPr lang="pt-BR" smtClean="0"/>
              <a:t>17/01/2014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558FEA-A700-4507-B723-1262AD8F7901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2.bp.blogspot.com/-IeoQE8DIYmk/TcCDFGZANYI/AAAAAAAAAEU/FmIwNkFbvi0/s1600/raios+de+sol+entre+nuven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320" y="0"/>
            <a:ext cx="9145320" cy="6858000"/>
          </a:xfrm>
          <a:prstGeom prst="rect">
            <a:avLst/>
          </a:prstGeom>
          <a:noFill/>
        </p:spPr>
      </p:pic>
      <p:sp>
        <p:nvSpPr>
          <p:cNvPr id="5" name="CaixaDeTexto 4"/>
          <p:cNvSpPr txBox="1"/>
          <p:nvPr/>
        </p:nvSpPr>
        <p:spPr>
          <a:xfrm>
            <a:off x="3203848" y="1916832"/>
            <a:ext cx="46085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dirty="0" smtClean="0">
                <a:solidFill>
                  <a:schemeClr val="bg1">
                    <a:lumMod val="95000"/>
                  </a:schemeClr>
                </a:solidFill>
              </a:rPr>
              <a:t>O Dia do Senhor</a:t>
            </a:r>
            <a:endParaRPr lang="pt-BR" sz="4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3635896" y="3645024"/>
            <a:ext cx="540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 smtClean="0">
                <a:solidFill>
                  <a:schemeClr val="bg1">
                    <a:lumMod val="95000"/>
                  </a:schemeClr>
                </a:solidFill>
              </a:rPr>
              <a:t>O Dia da ira do Senhor</a:t>
            </a:r>
            <a:endParaRPr lang="pt-BR" sz="4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1763688" y="2852936"/>
            <a:ext cx="23762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200" dirty="0" smtClean="0">
                <a:solidFill>
                  <a:schemeClr val="bg1">
                    <a:lumMod val="95000"/>
                  </a:schemeClr>
                </a:solidFill>
              </a:rPr>
              <a:t>=</a:t>
            </a:r>
            <a:endParaRPr lang="pt-BR" sz="7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" name="CaixaDeTexto 7"/>
          <p:cNvSpPr txBox="1"/>
          <p:nvPr/>
        </p:nvSpPr>
        <p:spPr>
          <a:xfrm>
            <a:off x="2339752" y="5229200"/>
            <a:ext cx="37444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dirty="0" smtClean="0">
                <a:solidFill>
                  <a:schemeClr val="bg1">
                    <a:lumMod val="95000"/>
                  </a:schemeClr>
                </a:solidFill>
              </a:rPr>
              <a:t>O que é isso?</a:t>
            </a:r>
            <a:endParaRPr lang="pt-BR" sz="48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9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6" grpId="0"/>
      <p:bldP spid="6" grpId="1"/>
      <p:bldP spid="7" grpId="0"/>
      <p:bldP spid="7" grpId="1"/>
      <p:bldP spid="8" grpId="0"/>
      <p:bldP spid="8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ttp://2.bp.blogspot.com/-IeoQE8DIYmk/TcCDFGZANYI/AAAAAAAAAEU/FmIwNkFbvi0/s1600/raios+de+sol+entre+nuven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5" name="CaixaDeTexto 4"/>
          <p:cNvSpPr txBox="1"/>
          <p:nvPr/>
        </p:nvSpPr>
        <p:spPr>
          <a:xfrm>
            <a:off x="3131840" y="1916832"/>
            <a:ext cx="43924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6000" dirty="0"/>
          </a:p>
        </p:txBody>
      </p:sp>
      <p:sp>
        <p:nvSpPr>
          <p:cNvPr id="6" name="CaixaDeTexto 5"/>
          <p:cNvSpPr txBox="1"/>
          <p:nvPr/>
        </p:nvSpPr>
        <p:spPr>
          <a:xfrm>
            <a:off x="971600" y="2825641"/>
            <a:ext cx="813690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smtClean="0">
                <a:solidFill>
                  <a:schemeClr val="bg1">
                    <a:lumMod val="95000"/>
                  </a:schemeClr>
                </a:solidFill>
              </a:rPr>
              <a:t>É o dia do julgamento de Deus sobre todas as coisas. A manifestação da sua ira contra os pecadores e a sua bênção sobre o seu povo.</a:t>
            </a:r>
            <a:endParaRPr lang="pt-BR" sz="40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http://2.bp.blogspot.com/-IeoQE8DIYmk/TcCDFGZANYI/AAAAAAAAAEU/FmIwNkFbvi0/s1600/raios+de+sol+entre+nuvens.jpg"/>
          <p:cNvPicPr>
            <a:picLocks noChangeAspect="1" noChangeArrowheads="1"/>
          </p:cNvPicPr>
          <p:nvPr/>
        </p:nvPicPr>
        <p:blipFill>
          <a:blip r:embed="rId2" cstate="print">
            <a:lum bright="-4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5" name="CaixaDeTexto 4"/>
          <p:cNvSpPr txBox="1"/>
          <p:nvPr/>
        </p:nvSpPr>
        <p:spPr>
          <a:xfrm>
            <a:off x="252536" y="332656"/>
            <a:ext cx="91440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i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“Porque, naquela noite, passarei pela terra do Egito e ferirei na terra do Egito todos os primogênitos, desde os homens até aos animais; </a:t>
            </a:r>
            <a:r>
              <a:rPr lang="pt-BR" sz="3200" b="1" i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executarei juízo</a:t>
            </a:r>
            <a:r>
              <a:rPr lang="pt-BR" sz="3200" i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sobre todos os deuses do Egito. Eu sou o SENHOR. O sangue vos será por sinal nas casas em que estiverdes; quando eu vir o sangue, passarei por vós, e não haverá entre vós praga destruidora, quando eu ferir a terra do Egito. Este dia vos será por memorial, e o celebrareis como solenidade ao SENHOR; nas vossas gerações o celebrareis por estatuto perpétuo.” Êxodo 12: 12-14</a:t>
            </a:r>
            <a:endParaRPr lang="pt-BR" sz="32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endParaRPr lang="pt-BR" sz="32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http://2.bp.blogspot.com/-IeoQE8DIYmk/TcCDFGZANYI/AAAAAAAAAEU/FmIwNkFbvi0/s1600/raios+de+sol+entre+nuvens.jpg"/>
          <p:cNvPicPr>
            <a:picLocks noChangeAspect="1" noChangeArrowheads="1"/>
          </p:cNvPicPr>
          <p:nvPr/>
        </p:nvPicPr>
        <p:blipFill>
          <a:blip r:embed="rId2" cstate="print">
            <a:lum bright="-4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5" name="CaixaDeTexto 4"/>
          <p:cNvSpPr txBox="1"/>
          <p:nvPr/>
        </p:nvSpPr>
        <p:spPr>
          <a:xfrm>
            <a:off x="252536" y="332656"/>
            <a:ext cx="9144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i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“Sejam honestos e justos nas suas decisões. Tratem todos de modo igual, tanto os humildes como os poderosos. Não tenham medo de ninguém, pois a sentença que vocês derem virá de Deus. Se algum caso for muito difícil para vocês, tragam para mim, que </a:t>
            </a:r>
            <a:r>
              <a:rPr lang="pt-BR" sz="3200" b="1" i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eu o julgarei</a:t>
            </a:r>
            <a:r>
              <a:rPr lang="pt-BR" sz="3200" i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.” Deuteronômio 1.17  </a:t>
            </a:r>
            <a:endParaRPr lang="pt-BR" sz="32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107504" y="3933056"/>
            <a:ext cx="889248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i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“Mas o que se gloriar, glorie-se nisto: em me conhecer e saber que eu sou o SENHOR e faço </a:t>
            </a:r>
            <a:r>
              <a:rPr lang="pt-BR" sz="3200" b="1" i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misericórdia, juízo e justiça</a:t>
            </a:r>
            <a:r>
              <a:rPr lang="pt-BR" sz="3200" i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na terra; porque destas coisas me agrado, diz o SENHOR.” Jeremias 9:24</a:t>
            </a:r>
            <a:endParaRPr lang="pt-BR" sz="32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endParaRPr lang="pt-BR" sz="32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http://2.bp.blogspot.com/-IeoQE8DIYmk/TcCDFGZANYI/AAAAAAAAAEU/FmIwNkFbvi0/s1600/raios+de+sol+entre+nuvens.jpg"/>
          <p:cNvPicPr>
            <a:picLocks noChangeAspect="1" noChangeArrowheads="1"/>
          </p:cNvPicPr>
          <p:nvPr/>
        </p:nvPicPr>
        <p:blipFill>
          <a:blip r:embed="rId2" cstate="print">
            <a:lum bright="-4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5" name="CaixaDeTexto 4"/>
          <p:cNvSpPr txBox="1"/>
          <p:nvPr/>
        </p:nvSpPr>
        <p:spPr>
          <a:xfrm>
            <a:off x="180528" y="332656"/>
            <a:ext cx="9144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i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“Eis que vêm dias, diz o SENHOR, em que levantarei a Davi um Renovo justo; e, rei que é, reinará, e agirá sabiamente, e </a:t>
            </a:r>
            <a:r>
              <a:rPr lang="pt-BR" sz="3600" b="1" i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executará o juízo e a justiça na terra</a:t>
            </a:r>
            <a:r>
              <a:rPr lang="pt-BR" sz="3600" i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.” Jeremias 23: 5</a:t>
            </a:r>
            <a:endParaRPr lang="pt-BR" sz="36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pt-BR" sz="3600" i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 </a:t>
            </a:r>
            <a:endParaRPr lang="pt-BR" sz="36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107504" y="3212976"/>
            <a:ext cx="889248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i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“Diga ao povo dali que eu, o SENHOR Deus, digo o seguinte: “</a:t>
            </a:r>
            <a:r>
              <a:rPr lang="pt-BR" sz="3200" i="1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Sidom</a:t>
            </a:r>
            <a:r>
              <a:rPr lang="pt-BR" sz="3200" i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, eu estou contra você. Por causa daquilo que vou fazer com você, </a:t>
            </a:r>
            <a:r>
              <a:rPr lang="pt-BR" sz="3200" b="1" i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todos me louvarão. Quando eu castigar</a:t>
            </a:r>
            <a:r>
              <a:rPr lang="pt-BR" sz="3200" i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os seus moradores, todos ficarão sabendo que eu sou o SENHOR </a:t>
            </a:r>
            <a:r>
              <a:rPr lang="pt-BR" sz="3200" b="1" i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e que sou santo</a:t>
            </a:r>
            <a:r>
              <a:rPr lang="pt-BR" sz="3200" i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.”</a:t>
            </a:r>
            <a:r>
              <a:rPr lang="pt-BR" sz="3200" b="1" i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</a:t>
            </a:r>
            <a:r>
              <a:rPr lang="pt-BR" sz="3200" i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Ezequiel 28.22</a:t>
            </a:r>
            <a:r>
              <a:rPr lang="pt-BR" sz="32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http://2.bp.blogspot.com/-IeoQE8DIYmk/TcCDFGZANYI/AAAAAAAAAEU/FmIwNkFbvi0/s1600/raios+de+sol+entre+nuvens.jpg"/>
          <p:cNvPicPr>
            <a:picLocks noChangeAspect="1" noChangeArrowheads="1"/>
          </p:cNvPicPr>
          <p:nvPr/>
        </p:nvPicPr>
        <p:blipFill>
          <a:blip r:embed="rId2" cstate="print">
            <a:lum bright="-4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5" name="CaixaDeTexto 4"/>
          <p:cNvSpPr txBox="1"/>
          <p:nvPr/>
        </p:nvSpPr>
        <p:spPr>
          <a:xfrm>
            <a:off x="35496" y="472598"/>
            <a:ext cx="914400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i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“Trarei aqui as nações mais perversas e lhes darei as casas de vocês. Quando eu deixar as nações pagãs profanarem os lugares onde vocês adoram, até os homens fortes perderão a confiança em si mesmos. O desespero está chegando. Vocês procurarão a paz, porém não a encontrarão. Haverá desgraça após desgraça, e más notícias em cima de más notícias. Vocês pedirão que os profetas expliquem o que eles estão vendo que vai acontecer. Os sacerdotes não terão nada para ensinar ao povo, e os velhos não terão conselhos para dar. O rei chorará, o príncipe perderá as esperanças, e o povo tremerá de medo. </a:t>
            </a:r>
            <a:r>
              <a:rPr lang="pt-BR" sz="2800" b="1" i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Eu castigarei vocês por tudo o que fizeram e os julgarei do modo como vocês julgaram os outros.</a:t>
            </a:r>
            <a:r>
              <a:rPr lang="pt-BR" sz="2800" i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Isso mostrará que eu sou o SENHOR.” Ezequiel 7.24-27</a:t>
            </a:r>
            <a:r>
              <a:rPr lang="pt-BR" sz="28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  </a:t>
            </a:r>
          </a:p>
          <a:p>
            <a:endParaRPr lang="pt-BR" sz="28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http://2.bp.blogspot.com/-IeoQE8DIYmk/TcCDFGZANYI/AAAAAAAAAEU/FmIwNkFbvi0/s1600/raios+de+sol+entre+nuvens.jpg"/>
          <p:cNvPicPr>
            <a:picLocks noChangeAspect="1" noChangeArrowheads="1"/>
          </p:cNvPicPr>
          <p:nvPr/>
        </p:nvPicPr>
        <p:blipFill>
          <a:blip r:embed="rId2" cstate="print">
            <a:lum bright="-4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5" name="CaixaDeTexto 4"/>
          <p:cNvSpPr txBox="1"/>
          <p:nvPr/>
        </p:nvSpPr>
        <p:spPr>
          <a:xfrm>
            <a:off x="252536" y="332656"/>
            <a:ext cx="9144000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pt-BR" sz="3200" i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“O SENHOR disse: — Eu vou deixar que as nações vejam a minha glória e mostrarei </a:t>
            </a:r>
            <a:r>
              <a:rPr lang="pt-BR" sz="3200" b="1" i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como uso o meu poder para realizar os meus atos de justiça</a:t>
            </a:r>
            <a:r>
              <a:rPr lang="pt-BR" sz="3200" i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. Daquele dia em diante, os israelitas ficarão sabendo que eu sou o SENHOR, seu Deus. E as nações ficarão sabendo que os israelitas foram levados presos para fora do seu país por causa dos pecados que cometeram contra mim. Eu me afastei deles e deixei que os seus inimigos os derrotassem e os matassem na guerra. </a:t>
            </a:r>
            <a:r>
              <a:rPr lang="pt-BR" sz="3200" b="1" i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Eu os tratei de acordo com o que as suas ações nojentas e as suas maldades mereciam e me afastei deles</a:t>
            </a:r>
            <a:r>
              <a:rPr lang="pt-BR" sz="3200" i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.”  Ezequiel 39.21-24</a:t>
            </a:r>
            <a:endParaRPr lang="pt-BR" sz="32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fontAlgn="base"/>
            <a:r>
              <a:rPr lang="pt-BR" sz="3200" i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 </a:t>
            </a:r>
            <a:endParaRPr lang="pt-BR" sz="32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endParaRPr lang="pt-BR" sz="32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http://2.bp.blogspot.com/-IeoQE8DIYmk/TcCDFGZANYI/AAAAAAAAAEU/FmIwNkFbvi0/s1600/raios+de+sol+entre+nuven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320" y="0"/>
            <a:ext cx="9145320" cy="6858000"/>
          </a:xfrm>
          <a:prstGeom prst="rect">
            <a:avLst/>
          </a:prstGeom>
          <a:noFill/>
        </p:spPr>
      </p:pic>
      <p:sp>
        <p:nvSpPr>
          <p:cNvPr id="2" name="Retângulo 1"/>
          <p:cNvSpPr/>
          <p:nvPr/>
        </p:nvSpPr>
        <p:spPr>
          <a:xfrm>
            <a:off x="2411760" y="1772816"/>
            <a:ext cx="698477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600" i="1" dirty="0" smtClean="0">
                <a:solidFill>
                  <a:schemeClr val="bg1"/>
                </a:solidFill>
              </a:rPr>
              <a:t>Mateus 12.36</a:t>
            </a:r>
            <a:r>
              <a:rPr lang="pt-BR" sz="3600" i="1" dirty="0">
                <a:solidFill>
                  <a:schemeClr val="bg1"/>
                </a:solidFill>
              </a:rPr>
              <a:t>   </a:t>
            </a:r>
            <a:r>
              <a:rPr lang="pt-BR" sz="3600" i="1" dirty="0" smtClean="0">
                <a:solidFill>
                  <a:schemeClr val="bg1"/>
                </a:solidFill>
              </a:rPr>
              <a:t>“Digo-vos </a:t>
            </a:r>
            <a:r>
              <a:rPr lang="pt-BR" sz="3600" i="1" dirty="0">
                <a:solidFill>
                  <a:schemeClr val="bg1"/>
                </a:solidFill>
              </a:rPr>
              <a:t>que de toda palavra frívola que proferirem os homens, dela darão conta no Dia do Juízo</a:t>
            </a:r>
            <a:r>
              <a:rPr lang="pt-BR" sz="3600" i="1" dirty="0" smtClean="0">
                <a:solidFill>
                  <a:schemeClr val="bg1"/>
                </a:solidFill>
              </a:rPr>
              <a:t>;”</a:t>
            </a:r>
            <a:endParaRPr lang="pt-BR" sz="3600" i="1" dirty="0">
              <a:solidFill>
                <a:schemeClr val="bg1"/>
              </a:solidFill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323528" y="4653136"/>
            <a:ext cx="77768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i="1" dirty="0" smtClean="0">
                <a:solidFill>
                  <a:schemeClr val="bg1"/>
                </a:solidFill>
              </a:rPr>
              <a:t>Romanos 2.5</a:t>
            </a:r>
            <a:r>
              <a:rPr lang="pt-BR" sz="3600" i="1" dirty="0">
                <a:solidFill>
                  <a:schemeClr val="bg1"/>
                </a:solidFill>
              </a:rPr>
              <a:t>   </a:t>
            </a:r>
            <a:r>
              <a:rPr lang="pt-BR" sz="3600" i="1" dirty="0" smtClean="0">
                <a:solidFill>
                  <a:schemeClr val="bg1"/>
                </a:solidFill>
              </a:rPr>
              <a:t>“Mas</a:t>
            </a:r>
            <a:r>
              <a:rPr lang="pt-BR" sz="3600" i="1" dirty="0">
                <a:solidFill>
                  <a:schemeClr val="bg1"/>
                </a:solidFill>
              </a:rPr>
              <a:t>, segundo a tua dureza e coração impenitente, acumulas contra ti mesmo ira para o dia da ira e da revelação do justo juízo de Deus</a:t>
            </a:r>
            <a:r>
              <a:rPr lang="pt-BR" sz="3600" i="1" dirty="0" smtClean="0">
                <a:solidFill>
                  <a:schemeClr val="bg1"/>
                </a:solidFill>
              </a:rPr>
              <a:t>,”</a:t>
            </a:r>
            <a:endParaRPr lang="pt-BR" sz="3600" i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http://2.bp.blogspot.com/-IeoQE8DIYmk/TcCDFGZANYI/AAAAAAAAAEU/FmIwNkFbvi0/s1600/raios+de+sol+entre+nuvens.jpg"/>
          <p:cNvPicPr>
            <a:picLocks noChangeAspect="1" noChangeArrowheads="1"/>
          </p:cNvPicPr>
          <p:nvPr/>
        </p:nvPicPr>
        <p:blipFill>
          <a:blip r:embed="rId2" cstate="print">
            <a:lum bright="-4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5" name="CaixaDeTexto 4"/>
          <p:cNvSpPr txBox="1"/>
          <p:nvPr/>
        </p:nvSpPr>
        <p:spPr>
          <a:xfrm>
            <a:off x="-36512" y="332656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/>
            <a:r>
              <a:rPr lang="pt-BR" sz="3200" b="1" i="1" dirty="0">
                <a:solidFill>
                  <a:schemeClr val="bg1"/>
                </a:solidFill>
              </a:rPr>
              <a:t>Mateus 16.27</a:t>
            </a:r>
            <a:r>
              <a:rPr lang="pt-BR" sz="3200" i="1" dirty="0">
                <a:solidFill>
                  <a:schemeClr val="bg1"/>
                </a:solidFill>
              </a:rPr>
              <a:t>   “Pois o Filho do Homem virá na glória do seu Pai com os seus anjos e então recompensará cada um de acordo com o que fez.” </a:t>
            </a:r>
            <a:endParaRPr lang="pt-BR" sz="3200" dirty="0">
              <a:solidFill>
                <a:schemeClr val="bg1"/>
              </a:solidFill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107504" y="2204864"/>
            <a:ext cx="896448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i="1" dirty="0">
                <a:solidFill>
                  <a:schemeClr val="bg1"/>
                </a:solidFill>
              </a:rPr>
              <a:t>Tiago 2.13</a:t>
            </a:r>
            <a:r>
              <a:rPr lang="pt-BR" sz="2800" i="1" dirty="0">
                <a:solidFill>
                  <a:schemeClr val="bg1"/>
                </a:solidFill>
              </a:rPr>
              <a:t> “Quando Deus julgar, não terá misericórdia das pessoas que não tiveram misericórdia dos outros. Mas as pessoas que tiveram misericórdia dos outros não serão condenadas no Dia do Juízo Final” </a:t>
            </a:r>
            <a:endParaRPr lang="pt-BR" sz="2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http://2.bp.blogspot.com/-IeoQE8DIYmk/TcCDFGZANYI/AAAAAAAAAEU/FmIwNkFbvi0/s1600/raios+de+sol+entre+nuvens.jpg"/>
          <p:cNvPicPr>
            <a:picLocks noChangeAspect="1" noChangeArrowheads="1"/>
          </p:cNvPicPr>
          <p:nvPr/>
        </p:nvPicPr>
        <p:blipFill>
          <a:blip r:embed="rId2" cstate="print">
            <a:lum bright="-4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6" name="CaixaDeTexto 5"/>
          <p:cNvSpPr txBox="1"/>
          <p:nvPr/>
        </p:nvSpPr>
        <p:spPr>
          <a:xfrm>
            <a:off x="0" y="44624"/>
            <a:ext cx="9144000" cy="720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100" b="1" i="1" dirty="0">
                <a:solidFill>
                  <a:schemeClr val="bg1"/>
                </a:solidFill>
              </a:rPr>
              <a:t>Mateus 25.31</a:t>
            </a:r>
            <a:r>
              <a:rPr lang="pt-BR" sz="2100" i="1" dirty="0">
                <a:solidFill>
                  <a:schemeClr val="bg1"/>
                </a:solidFill>
              </a:rPr>
              <a:t>   “Jesus terminou, dizendo: — Quando o Filho do Homem vier como Rei, com todos os anjos, ele se sentará no seu trono real. Todos os povos da terra se reunirão diante dele, e ele separará as pessoas umas das outras, assim como o pastor separa as ovelhas das cabras. Ele porá os bons à sua direita e os outros, à esquerda. Então o Rei dirá aos que estiverem à sua direita: “Venham, vocês que são abençoados pelo meu Pai! Venham e recebam o Reino que o meu Pai preparou para vocês desde a criação do mundo. Pois eu estava com fome, e vocês me deram comida; estava com sede, e me deram água. Era estrangeiro, e me receberam na sua casa. Estava sem roupa, e me vestiram; estava doente, e cuidaram de mim. Estava na cadeia, e foram me visitar.”— Então os bons perguntarão: “Senhor, quando foi que o vimos com fome e lhe demos comida ou com sede e lhe demos água? Quando foi que vimos o senhor como estrangeiro e o recebemos na nossa casa ou sem roupa e o vestimos? Quando foi que vimos o senhor doente ou na cadeia e fomos visitá-lo?” — Aí o Rei responderá: “Eu afirmo a vocês que isto é verdade: quando vocês fizeram isso ao mais humilde dos meus irmãos, foi a mim que fizeram.”  — Depois ele dirá aos que estiverem à sua esquerda: “Afastem-se de mim, vocês que estão debaixo da maldição de Deus! Vão para o fogo eterno, preparado para o Diabo e os seus anjos! Pois eu estava com fome, e vocês não me deram comida; estava com sede, e não me deram água. Era estrangeiro, e não me receberam na sua casa; estava sem roupa, e não me vestiram. Estava doente e na cadeia, e vocês não cuidaram de mim.”</a:t>
            </a:r>
            <a:endParaRPr lang="pt-BR" sz="2100" dirty="0">
              <a:solidFill>
                <a:schemeClr val="bg1"/>
              </a:solidFill>
            </a:endParaRPr>
          </a:p>
          <a:p>
            <a:endParaRPr lang="pt-BR" sz="2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://2.bp.blogspot.com/-IeoQE8DIYmk/TcCDFGZANYI/AAAAAAAAAEU/FmIwNkFbvi0/s1600/raios+de+sol+entre+nuvens.jpg"/>
          <p:cNvPicPr>
            <a:picLocks noChangeAspect="1" noChangeArrowheads="1"/>
          </p:cNvPicPr>
          <p:nvPr/>
        </p:nvPicPr>
        <p:blipFill>
          <a:blip r:embed="rId2" cstate="print">
            <a:lum bright="-4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CaixaDeTexto 2"/>
          <p:cNvSpPr txBox="1"/>
          <p:nvPr/>
        </p:nvSpPr>
        <p:spPr>
          <a:xfrm>
            <a:off x="0" y="908720"/>
            <a:ext cx="91440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000" b="1" i="1" dirty="0">
                <a:solidFill>
                  <a:schemeClr val="bg1"/>
                </a:solidFill>
              </a:rPr>
              <a:t>Lucas 21:25-28</a:t>
            </a:r>
            <a:r>
              <a:rPr lang="pt-BR" sz="3000" i="1" dirty="0">
                <a:solidFill>
                  <a:schemeClr val="bg1"/>
                </a:solidFill>
              </a:rPr>
              <a:t> “E Jesus continuou: — Haverá sinais no sol, na lua e nas estrelas. E, na terra, todas as nações ficarão desesperadas, com medo do terrível barulho do mar e das ondas. Em todo o mundo muitas pessoas desmaiarão de terror ao pensarem no que vai acontecer, pois os poderes do espaço serão abalados. Então o Filho do Homem aparecerá descendo numa nuvem, com poder e grande glória. </a:t>
            </a:r>
            <a:r>
              <a:rPr lang="pt-BR" sz="3000" b="1" i="1" dirty="0">
                <a:solidFill>
                  <a:schemeClr val="bg1"/>
                </a:solidFill>
              </a:rPr>
              <a:t>Quando essas coisas começarem a acontecer, fiquem firmes e de cabeça erguida, pois logo vocês serão salvos</a:t>
            </a:r>
            <a:r>
              <a:rPr lang="pt-BR" sz="3000" i="1" dirty="0">
                <a:solidFill>
                  <a:schemeClr val="bg1"/>
                </a:solidFill>
              </a:rPr>
              <a:t>.”</a:t>
            </a:r>
            <a:endParaRPr lang="pt-BR" sz="3000" dirty="0">
              <a:solidFill>
                <a:schemeClr val="bg1"/>
              </a:solidFill>
            </a:endParaRPr>
          </a:p>
          <a:p>
            <a:r>
              <a:rPr lang="pt-BR" sz="3000" i="1" dirty="0">
                <a:solidFill>
                  <a:schemeClr val="bg1"/>
                </a:solidFill>
              </a:rPr>
              <a:t> </a:t>
            </a:r>
            <a:endParaRPr lang="pt-BR" sz="3000" dirty="0">
              <a:solidFill>
                <a:schemeClr val="bg1"/>
              </a:solidFill>
            </a:endParaRPr>
          </a:p>
          <a:p>
            <a:endParaRPr lang="pt-BR" sz="3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://2.bp.blogspot.com/-IeoQE8DIYmk/TcCDFGZANYI/AAAAAAAAAEU/FmIwNkFbvi0/s1600/raios+de+sol+entre+nuvens.jpg"/>
          <p:cNvPicPr>
            <a:picLocks noChangeAspect="1" noChangeArrowheads="1"/>
          </p:cNvPicPr>
          <p:nvPr/>
        </p:nvPicPr>
        <p:blipFill>
          <a:blip r:embed="rId2" cstate="print">
            <a:lum bright="-4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CaixaDeTexto 2"/>
          <p:cNvSpPr txBox="1"/>
          <p:nvPr/>
        </p:nvSpPr>
        <p:spPr>
          <a:xfrm>
            <a:off x="0" y="908720"/>
            <a:ext cx="9144000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i="1" dirty="0">
                <a:solidFill>
                  <a:schemeClr val="bg1"/>
                </a:solidFill>
              </a:rPr>
              <a:t>2 Pedro 2.9</a:t>
            </a:r>
            <a:r>
              <a:rPr lang="pt-BR" sz="3200" i="1" dirty="0">
                <a:solidFill>
                  <a:schemeClr val="bg1"/>
                </a:solidFill>
              </a:rPr>
              <a:t> “Tudo isso nos mostra que o Senhor sabe como livrar das aflições as pessoas dedicadas a ele e também sabe como guardar os maus debaixo de castigo para o Dia do Julgamento.”</a:t>
            </a:r>
            <a:endParaRPr lang="pt-BR" sz="3200" dirty="0">
              <a:solidFill>
                <a:schemeClr val="bg1"/>
              </a:solidFill>
            </a:endParaRPr>
          </a:p>
          <a:p>
            <a:r>
              <a:rPr lang="pt-BR" sz="3000" i="1" dirty="0">
                <a:solidFill>
                  <a:schemeClr val="bg1"/>
                </a:solidFill>
              </a:rPr>
              <a:t> </a:t>
            </a:r>
            <a:endParaRPr lang="pt-BR" sz="3000" dirty="0">
              <a:solidFill>
                <a:schemeClr val="bg1"/>
              </a:solidFill>
            </a:endParaRPr>
          </a:p>
          <a:p>
            <a:endParaRPr lang="pt-BR" sz="3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://2.bp.blogspot.com/-IeoQE8DIYmk/TcCDFGZANYI/AAAAAAAAAEU/FmIwNkFbvi0/s1600/raios+de+sol+entre+nuvens.jpg"/>
          <p:cNvPicPr>
            <a:picLocks noChangeAspect="1" noChangeArrowheads="1"/>
          </p:cNvPicPr>
          <p:nvPr/>
        </p:nvPicPr>
        <p:blipFill>
          <a:blip r:embed="rId2" cstate="print">
            <a:lum bright="-4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5" name="CaixaDeTexto 4"/>
          <p:cNvSpPr txBox="1"/>
          <p:nvPr/>
        </p:nvSpPr>
        <p:spPr>
          <a:xfrm>
            <a:off x="0" y="44624"/>
            <a:ext cx="8892480" cy="79868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600" b="1" i="1" dirty="0">
                <a:solidFill>
                  <a:schemeClr val="bg1"/>
                </a:solidFill>
              </a:rPr>
              <a:t>João 5.24-30</a:t>
            </a:r>
            <a:r>
              <a:rPr lang="pt-BR" sz="2600" i="1" dirty="0">
                <a:solidFill>
                  <a:schemeClr val="bg1"/>
                </a:solidFill>
              </a:rPr>
              <a:t> “ — Eu afirmo a vocês que isto é verdade: quem ouve as minhas palavras e crê naquele que me enviou tem a vida eterna e não será julgado, mas já passou da morte para a vida. Eu afirmo a vocês que isto é verdade: vem a hora, e ela já chegou, em que os mortos vão ouvir a voz do Filho de Deus, e os que a ouvirem viverão. Assim como o Pai é a fonte da vida, assim também fez o Filho ser a fonte da vida. E ele deu ao Filho autoridade para julgar, pois ele é o Filho do Homem. — Não fiquem admirados por causa disso, pois está chegando a hora em que todos os mortos ouvirão a voz do Filho do Homem e sairão das suas sepulturas. Aqueles que fizeram o bem vão ressuscitar e viver, e aqueles que fizeram o mal vão ressuscitar e ser condenados. Jesus continuou a falar a eles. Ele disse: — Eu não posso fazer nada por minha própria conta, mas julgo de acordo com o que o Pai me diz. O meu julgamento é justo porque não procuro fazer a minha própria vontade, mas a vontade daquele que me enviou.”</a:t>
            </a:r>
            <a:endParaRPr lang="pt-BR" sz="2600" dirty="0">
              <a:solidFill>
                <a:schemeClr val="bg1"/>
              </a:solidFill>
            </a:endParaRPr>
          </a:p>
          <a:p>
            <a:pPr algn="just"/>
            <a:r>
              <a:rPr lang="pt-BR" sz="2600" i="1" dirty="0">
                <a:solidFill>
                  <a:schemeClr val="bg1"/>
                </a:solidFill>
              </a:rPr>
              <a:t> </a:t>
            </a:r>
            <a:endParaRPr lang="pt-BR" sz="2600" dirty="0">
              <a:solidFill>
                <a:schemeClr val="bg1"/>
              </a:solidFill>
            </a:endParaRPr>
          </a:p>
          <a:p>
            <a:pPr algn="just"/>
            <a:endParaRPr lang="pt-BR" sz="2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://2.bp.blogspot.com/-IeoQE8DIYmk/TcCDFGZANYI/AAAAAAAAAEU/FmIwNkFbvi0/s1600/raios+de+sol+entre+nuvens.jpg"/>
          <p:cNvPicPr>
            <a:picLocks noChangeAspect="1" noChangeArrowheads="1"/>
          </p:cNvPicPr>
          <p:nvPr/>
        </p:nvPicPr>
        <p:blipFill>
          <a:blip r:embed="rId2" cstate="print">
            <a:lum bright="-4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CaixaDeTexto 2"/>
          <p:cNvSpPr txBox="1"/>
          <p:nvPr/>
        </p:nvSpPr>
        <p:spPr>
          <a:xfrm>
            <a:off x="1835696" y="2492896"/>
            <a:ext cx="730830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i="1" dirty="0">
                <a:solidFill>
                  <a:schemeClr val="bg1"/>
                </a:solidFill>
              </a:rPr>
              <a:t>João 8.16  “ E, se eu julgar, o meu julgamento é verdadeiro porque não julgo sozinho, pois o Pai, que me enviou, está comigo.”</a:t>
            </a:r>
            <a:endParaRPr lang="pt-BR" sz="3600" dirty="0">
              <a:solidFill>
                <a:schemeClr val="bg1"/>
              </a:solidFill>
            </a:endParaRPr>
          </a:p>
          <a:p>
            <a:endParaRPr lang="pt-BR" sz="3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674</Words>
  <Application>Microsoft Office PowerPoint</Application>
  <PresentationFormat>Apresentação na tela (4:3)</PresentationFormat>
  <Paragraphs>26</Paragraphs>
  <Slides>14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5" baseType="lpstr">
      <vt:lpstr>Tema do Office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Esther</dc:creator>
  <cp:lastModifiedBy>Esther</cp:lastModifiedBy>
  <cp:revision>26</cp:revision>
  <dcterms:created xsi:type="dcterms:W3CDTF">2014-01-17T17:07:31Z</dcterms:created>
  <dcterms:modified xsi:type="dcterms:W3CDTF">2014-01-17T21:11:20Z</dcterms:modified>
</cp:coreProperties>
</file>